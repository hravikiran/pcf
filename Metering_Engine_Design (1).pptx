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platform for usage metering and monetization. Built once, reusable across sources and billing providers.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Events flow from source systems through Kafka, are stored raw, aggregated and classified, then delivered to the billing provider. Every stage is decoupled.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pipeline. Event Processor and Aggregator write into HPOS S3 object storage - raw events, classified parquet and exception events all live there. Monetization delivers the billing file to the ACO billing system. Parquet in S3 is queried directly by a query engine to power dashboards and Tableau-style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engineering guarantees behind the architecture, in business terms. These are what make the billing numbers defensible.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leadership message. Built once, reused everywhere. New source systems and billing providers onboard by configuration, not by new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reuse looks like concretely. A new billing use case reuses eleven capabilities it would otherwise have to build. Onboarding is configuration, and the same controls apply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adapter layer means the billing provider is a plug-in choice, not an architectural commitment. ACO today, RPM or others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Billing you can defend. Every number traceable from source event to billing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raw and aggregated data sit in Parquet on object storage, it can be queried directly with SQL. No extra warehouse, no data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reporting the query layer enables: volume by aggregator, revenue by aggregator and recipient, and revenue by API. These are sample shapes, not actual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horizons. Near term we broaden sources and add quick invoice adjustments. Mid term we add providers, pricing models and self-service analytics. Long term the Metering Engine becomes the enterprise monetization and usage-governance 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leadership summary: what we have, what it saves, what we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3240267"/>
            <a:ext cx="1143000" cy="47625"/>
          </a:xfrm>
          <a:prstGeom prst="rect">
            <a:avLst/>
          </a:prstGeom>
          <a:solidFill>
            <a:srgbClr val="A4123F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3706937"/>
            <a:ext cx="17392650" cy="970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515"/>
              </a:lnSpc>
              <a:buNone/>
            </a:pPr>
            <a:r>
              <a:rPr lang="en-US" sz="7200" b="1" spc="-144" kern="0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Metering Engine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238250" y="4887144"/>
            <a:ext cx="12165330" cy="10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3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enterprise platform for usage metering, reconciliation and monetization.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38250" y="6410958"/>
            <a:ext cx="1557486" cy="635682"/>
          </a:xfrm>
          <a:prstGeom prst="roundRect">
            <a:avLst>
              <a:gd name="adj" fmla="val 11987"/>
            </a:avLst>
          </a:prstGeom>
          <a:solidFill>
            <a:srgbClr val="FFFFFF"/>
          </a:solidFill>
          <a:ln w="5953">
            <a:solidFill>
              <a:srgbClr val="E0DB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9953" y="6550261"/>
            <a:ext cx="1050280" cy="39517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948099" y="6410958"/>
            <a:ext cx="1673386" cy="635682"/>
          </a:xfrm>
          <a:prstGeom prst="roundRect">
            <a:avLst>
              <a:gd name="adj" fmla="val 11987"/>
            </a:avLst>
          </a:prstGeom>
          <a:solidFill>
            <a:srgbClr val="FFFFFF"/>
          </a:solidFill>
          <a:ln w="5953">
            <a:solidFill>
              <a:srgbClr val="E0DB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39802" y="6550261"/>
            <a:ext cx="1166180" cy="39517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Extensible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4773848" y="6410958"/>
            <a:ext cx="1826772" cy="635682"/>
          </a:xfrm>
          <a:prstGeom prst="roundRect">
            <a:avLst>
              <a:gd name="adj" fmla="val 11987"/>
            </a:avLst>
          </a:prstGeom>
          <a:solidFill>
            <a:srgbClr val="FFFFFF"/>
          </a:solidFill>
          <a:ln w="5953">
            <a:solidFill>
              <a:srgbClr val="E0DB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65551" y="6550261"/>
            <a:ext cx="1319566" cy="39517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38250" y="9280922"/>
            <a:ext cx="2809894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Leadership Review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63" y="704794"/>
            <a:ext cx="181052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Architecture &amp; Advantages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914363" y="1514419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914363" y="2244142"/>
            <a:ext cx="2381250" cy="1196671"/>
          </a:xfrm>
          <a:prstGeom prst="roundRect">
            <a:avLst>
              <a:gd name="adj" fmla="val 9551"/>
            </a:avLst>
          </a:prstGeom>
          <a:solidFill>
            <a:srgbClr val="0F2044"/>
          </a:solidFill>
          <a:ln/>
        </p:spPr>
      </p:sp>
      <p:sp>
        <p:nvSpPr>
          <p:cNvPr id="5" name="Text 3"/>
          <p:cNvSpPr/>
          <p:nvPr/>
        </p:nvSpPr>
        <p:spPr>
          <a:xfrm>
            <a:off x="1142907" y="2491755"/>
            <a:ext cx="2116578" cy="32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Systems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2907" y="2871732"/>
            <a:ext cx="2116578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B9C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· ASDE</a:t>
            </a:r>
            <a:endParaRPr lang="en-US" sz="187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95613" y="2728206"/>
            <a:ext cx="857250" cy="2285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52863" y="2238189"/>
            <a:ext cx="2190750" cy="1208577"/>
          </a:xfrm>
          <a:prstGeom prst="roundRect">
            <a:avLst>
              <a:gd name="adj" fmla="val 9457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7360" y="2491755"/>
            <a:ext cx="1893931" cy="32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9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Stream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387360" y="2871732"/>
            <a:ext cx="189393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topic</a:t>
            </a:r>
            <a:endParaRPr lang="en-US" sz="1875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3613" y="2728206"/>
            <a:ext cx="857250" cy="2285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200863" y="2238189"/>
            <a:ext cx="2381250" cy="1208577"/>
          </a:xfrm>
          <a:prstGeom prst="roundRect">
            <a:avLst>
              <a:gd name="adj" fmla="val 9457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435360" y="2491755"/>
            <a:ext cx="2103481" cy="32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9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Processor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7435360" y="2871732"/>
            <a:ext cx="210348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· store raw</a:t>
            </a:r>
            <a:endParaRPr lang="en-US" sz="1875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2113" y="2728206"/>
            <a:ext cx="857250" cy="2285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0439363" y="2238189"/>
            <a:ext cx="2381250" cy="1208577"/>
          </a:xfrm>
          <a:prstGeom prst="roundRect">
            <a:avLst>
              <a:gd name="adj" fmla="val 9457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0673860" y="2491755"/>
            <a:ext cx="2103481" cy="32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9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Aggregator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10673860" y="2871732"/>
            <a:ext cx="210348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· aggregate</a:t>
            </a:r>
            <a:endParaRPr lang="en-US" sz="1875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820613" y="2728206"/>
            <a:ext cx="857250" cy="22854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677863" y="2244142"/>
            <a:ext cx="2381250" cy="1196671"/>
          </a:xfrm>
          <a:prstGeom prst="roundRect">
            <a:avLst>
              <a:gd name="adj" fmla="val 9551"/>
            </a:avLst>
          </a:prstGeom>
          <a:solidFill>
            <a:srgbClr val="A4123F"/>
          </a:solidFill>
          <a:ln/>
        </p:spPr>
      </p:sp>
      <p:sp>
        <p:nvSpPr>
          <p:cNvPr id="21" name="Text 15"/>
          <p:cNvSpPr/>
          <p:nvPr/>
        </p:nvSpPr>
        <p:spPr>
          <a:xfrm>
            <a:off x="13906407" y="2491755"/>
            <a:ext cx="2116578" cy="32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Monetization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13906407" y="2871732"/>
            <a:ext cx="2116578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F2C9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file → ACO</a:t>
            </a:r>
            <a:endParaRPr lang="en-US" sz="1875" dirty="0"/>
          </a:p>
        </p:txBody>
      </p:sp>
      <p:sp>
        <p:nvSpPr>
          <p:cNvPr id="23" name="Shape 17"/>
          <p:cNvSpPr/>
          <p:nvPr/>
        </p:nvSpPr>
        <p:spPr>
          <a:xfrm>
            <a:off x="914363" y="4189698"/>
            <a:ext cx="5321350" cy="3016746"/>
          </a:xfrm>
          <a:prstGeom prst="roundRect">
            <a:avLst>
              <a:gd name="adj" fmla="val 3789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20316" y="4195651"/>
            <a:ext cx="5309443" cy="626194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5" name="Text 19"/>
          <p:cNvSpPr/>
          <p:nvPr/>
        </p:nvSpPr>
        <p:spPr>
          <a:xfrm>
            <a:off x="1148916" y="4348051"/>
            <a:ext cx="5011527" cy="359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Decoupled by design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167929" y="5050389"/>
            <a:ext cx="529564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scales and fails independently</a:t>
            </a:r>
            <a:endParaRPr lang="en-US" sz="1875" dirty="0"/>
          </a:p>
        </p:txBody>
      </p:sp>
      <p:sp>
        <p:nvSpPr>
          <p:cNvPr id="27" name="Text 21"/>
          <p:cNvSpPr/>
          <p:nvPr/>
        </p:nvSpPr>
        <p:spPr>
          <a:xfrm>
            <a:off x="1167929" y="5476596"/>
            <a:ext cx="529564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sources added without touching billing</a:t>
            </a:r>
            <a:endParaRPr lang="en-US" sz="1875" dirty="0"/>
          </a:p>
        </p:txBody>
      </p:sp>
      <p:sp>
        <p:nvSpPr>
          <p:cNvPr id="28" name="Text 22"/>
          <p:cNvSpPr/>
          <p:nvPr/>
        </p:nvSpPr>
        <p:spPr>
          <a:xfrm>
            <a:off x="1167929" y="5902802"/>
            <a:ext cx="529564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 retained as the source of truth</a:t>
            </a:r>
            <a:endParaRPr lang="en-US" sz="1875" dirty="0"/>
          </a:p>
        </p:txBody>
      </p:sp>
      <p:sp>
        <p:nvSpPr>
          <p:cNvPr id="29" name="Shape 23"/>
          <p:cNvSpPr/>
          <p:nvPr/>
        </p:nvSpPr>
        <p:spPr>
          <a:xfrm>
            <a:off x="6483325" y="4189698"/>
            <a:ext cx="5321350" cy="3016746"/>
          </a:xfrm>
          <a:prstGeom prst="roundRect">
            <a:avLst>
              <a:gd name="adj" fmla="val 3789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489278" y="4195651"/>
            <a:ext cx="5309443" cy="626194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31" name="Text 25"/>
          <p:cNvSpPr/>
          <p:nvPr/>
        </p:nvSpPr>
        <p:spPr>
          <a:xfrm>
            <a:off x="6717878" y="4348051"/>
            <a:ext cx="5011527" cy="359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Trustworthy billing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6736891" y="5050389"/>
            <a:ext cx="529564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 loss, no duplicate charges</a:t>
            </a:r>
            <a:endParaRPr lang="en-US" sz="1875" dirty="0"/>
          </a:p>
        </p:txBody>
      </p:sp>
      <p:sp>
        <p:nvSpPr>
          <p:cNvPr id="33" name="Text 27"/>
          <p:cNvSpPr/>
          <p:nvPr/>
        </p:nvSpPr>
        <p:spPr>
          <a:xfrm>
            <a:off x="6736891" y="5476596"/>
            <a:ext cx="529564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event validated and traceable</a:t>
            </a:r>
            <a:endParaRPr lang="en-US" sz="1875" dirty="0"/>
          </a:p>
        </p:txBody>
      </p:sp>
      <p:sp>
        <p:nvSpPr>
          <p:cNvPr id="34" name="Text 28"/>
          <p:cNvSpPr/>
          <p:nvPr/>
        </p:nvSpPr>
        <p:spPr>
          <a:xfrm>
            <a:off x="6736891" y="5902802"/>
            <a:ext cx="529564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Rejections captured, never silently dropped</a:t>
            </a:r>
            <a:endParaRPr lang="en-US" sz="1875" dirty="0"/>
          </a:p>
        </p:txBody>
      </p:sp>
      <p:sp>
        <p:nvSpPr>
          <p:cNvPr id="35" name="Shape 29"/>
          <p:cNvSpPr/>
          <p:nvPr/>
        </p:nvSpPr>
        <p:spPr>
          <a:xfrm>
            <a:off x="12052288" y="4189698"/>
            <a:ext cx="5321350" cy="3016746"/>
          </a:xfrm>
          <a:prstGeom prst="roundRect">
            <a:avLst>
              <a:gd name="adj" fmla="val 3789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12058241" y="4195651"/>
            <a:ext cx="5309443" cy="626194"/>
          </a:xfrm>
          <a:prstGeom prst="rect">
            <a:avLst/>
          </a:prstGeom>
          <a:solidFill>
            <a:srgbClr val="1F6135"/>
          </a:solidFill>
          <a:ln/>
        </p:spPr>
      </p:sp>
      <p:sp>
        <p:nvSpPr>
          <p:cNvPr id="37" name="Text 31"/>
          <p:cNvSpPr/>
          <p:nvPr/>
        </p:nvSpPr>
        <p:spPr>
          <a:xfrm>
            <a:off x="12286841" y="4348051"/>
            <a:ext cx="5011527" cy="359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scale</a:t>
            </a:r>
            <a:endParaRPr lang="en-US" sz="1800" dirty="0"/>
          </a:p>
        </p:txBody>
      </p:sp>
      <p:sp>
        <p:nvSpPr>
          <p:cNvPr id="38" name="Text 32"/>
          <p:cNvSpPr/>
          <p:nvPr/>
        </p:nvSpPr>
        <p:spPr>
          <a:xfrm>
            <a:off x="12305854" y="5050389"/>
            <a:ext cx="529564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billions of events per month</a:t>
            </a:r>
            <a:endParaRPr lang="en-US" sz="1875" dirty="0"/>
          </a:p>
        </p:txBody>
      </p:sp>
      <p:sp>
        <p:nvSpPr>
          <p:cNvPr id="39" name="Text 33"/>
          <p:cNvSpPr/>
          <p:nvPr/>
        </p:nvSpPr>
        <p:spPr>
          <a:xfrm>
            <a:off x="12305854" y="5476596"/>
            <a:ext cx="529564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scale, no re-architecture</a:t>
            </a:r>
            <a:endParaRPr lang="en-US" sz="1875" dirty="0"/>
          </a:p>
        </p:txBody>
      </p:sp>
      <p:sp>
        <p:nvSpPr>
          <p:cNvPr id="40" name="Text 34"/>
          <p:cNvSpPr/>
          <p:nvPr/>
        </p:nvSpPr>
        <p:spPr>
          <a:xfrm>
            <a:off x="12305854" y="5902802"/>
            <a:ext cx="529564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 storage tiering built in</a:t>
            </a:r>
            <a:endParaRPr lang="en-US" sz="1875" dirty="0"/>
          </a:p>
        </p:txBody>
      </p:sp>
      <p:sp>
        <p:nvSpPr>
          <p:cNvPr id="41" name="Text 35"/>
          <p:cNvSpPr/>
          <p:nvPr/>
        </p:nvSpPr>
        <p:spPr>
          <a:xfrm>
            <a:off x="12305854" y="6329009"/>
            <a:ext cx="4958644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generated by simply querying S3 storage</a:t>
            </a:r>
            <a:endParaRPr lang="en-US" sz="1875" dirty="0"/>
          </a:p>
        </p:txBody>
      </p:sp>
      <p:sp>
        <p:nvSpPr>
          <p:cNvPr id="42" name="Shape 36"/>
          <p:cNvSpPr/>
          <p:nvPr/>
        </p:nvSpPr>
        <p:spPr>
          <a:xfrm>
            <a:off x="914363" y="7701669"/>
            <a:ext cx="16459274" cy="754745"/>
          </a:xfrm>
          <a:prstGeom prst="roundRect">
            <a:avLst>
              <a:gd name="adj" fmla="val 12620"/>
            </a:avLst>
          </a:prstGeom>
          <a:solidFill>
            <a:srgbClr val="F5E9C8"/>
          </a:solidFill>
          <a:ln w="5953">
            <a:solidFill>
              <a:srgbClr val="DFC97E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454121" y="7936167"/>
            <a:ext cx="1737975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3D3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Advantage: one metering pipeline replaces per-application billing builds.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863" y="476250"/>
            <a:ext cx="18524302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Architecture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23863" y="1204857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723863" y="1533953"/>
            <a:ext cx="285750" cy="23813"/>
          </a:xfrm>
          <a:prstGeom prst="rect">
            <a:avLst/>
          </a:prstGeom>
          <a:solidFill>
            <a:srgbClr val="8A93A6"/>
          </a:solidFill>
          <a:ln/>
        </p:spPr>
      </p:sp>
      <p:sp>
        <p:nvSpPr>
          <p:cNvPr id="5" name="Text 3"/>
          <p:cNvSpPr/>
          <p:nvPr/>
        </p:nvSpPr>
        <p:spPr>
          <a:xfrm>
            <a:off x="1104863" y="1376195"/>
            <a:ext cx="1035769" cy="377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flow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2312045" y="1533953"/>
            <a:ext cx="285750" cy="23813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7" name="Text 5"/>
          <p:cNvSpPr/>
          <p:nvPr/>
        </p:nvSpPr>
        <p:spPr>
          <a:xfrm>
            <a:off x="2693045" y="1376195"/>
            <a:ext cx="1548017" cy="377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path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4412475" y="1460097"/>
            <a:ext cx="171431" cy="171431"/>
          </a:xfrm>
          <a:prstGeom prst="roundRect">
            <a:avLst>
              <a:gd name="adj" fmla="val 22225"/>
            </a:avLst>
          </a:prstGeom>
          <a:ln w="23813">
            <a:solidFill>
              <a:srgbClr val="C044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79156" y="1376195"/>
            <a:ext cx="1737587" cy="377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component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6588156" y="1460097"/>
            <a:ext cx="171431" cy="171431"/>
          </a:xfrm>
          <a:prstGeom prst="roundRect">
            <a:avLst>
              <a:gd name="adj" fmla="val 22225"/>
            </a:avLst>
          </a:prstGeom>
          <a:ln w="23813">
            <a:solidFill>
              <a:srgbClr val="1F6135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854837" y="1376195"/>
            <a:ext cx="1725495" cy="377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HPOS S3 storage</a:t>
            </a:r>
            <a:endParaRPr lang="en-US" sz="187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863" y="1848817"/>
            <a:ext cx="16859250" cy="813429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23863" y="2229817"/>
            <a:ext cx="2438363" cy="1905000"/>
          </a:xfrm>
          <a:prstGeom prst="roundRect">
            <a:avLst>
              <a:gd name="adj" fmla="val 6000"/>
            </a:avLst>
          </a:prstGeom>
          <a:solidFill>
            <a:srgbClr val="0F2044"/>
          </a:solidFill>
          <a:ln/>
        </p:spPr>
      </p:sp>
      <p:sp>
        <p:nvSpPr>
          <p:cNvPr id="14" name="Text 11"/>
          <p:cNvSpPr/>
          <p:nvPr/>
        </p:nvSpPr>
        <p:spPr>
          <a:xfrm>
            <a:off x="952407" y="2439293"/>
            <a:ext cx="2057474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Systems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952407" y="3174504"/>
            <a:ext cx="2057474" cy="638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5" dirty="0">
                <a:solidFill>
                  <a:srgbClr val="B9C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· ASDE · future apps</a:t>
            </a:r>
            <a:endParaRPr lang="en-US" sz="1875" dirty="0"/>
          </a:p>
        </p:txBody>
      </p:sp>
      <p:sp>
        <p:nvSpPr>
          <p:cNvPr id="16" name="Shape 13"/>
          <p:cNvSpPr/>
          <p:nvPr/>
        </p:nvSpPr>
        <p:spPr>
          <a:xfrm>
            <a:off x="3600338" y="2229817"/>
            <a:ext cx="2438363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859">
            <a:solidFill>
              <a:srgbClr val="0F20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6742" y="2457152"/>
            <a:ext cx="214011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22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Topic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3846742" y="2872383"/>
            <a:ext cx="2021756" cy="638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Partitioned · durable buffer</a:t>
            </a:r>
            <a:endParaRPr lang="en-US" sz="1875" dirty="0"/>
          </a:p>
        </p:txBody>
      </p:sp>
      <p:sp>
        <p:nvSpPr>
          <p:cNvPr id="19" name="Shape 16"/>
          <p:cNvSpPr/>
          <p:nvPr/>
        </p:nvSpPr>
        <p:spPr>
          <a:xfrm>
            <a:off x="6476907" y="2229817"/>
            <a:ext cx="2438363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3813">
            <a:solidFill>
              <a:srgbClr val="C0442A"/>
            </a:solidFill>
            <a:prstDash val="solid"/>
          </a:ln>
          <a:effectLst>
            <a:outerShdw sx="100000" sy="100000" kx="0" ky="0" algn="bl" rotWithShape="0" blurRad="114300" dist="28575" dir="5400000">
              <a:srgbClr val="0F2044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729264" y="2463105"/>
            <a:ext cx="200984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22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Processor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6729264" y="3198316"/>
            <a:ext cx="2009849" cy="638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&amp; de-duplicate</a:t>
            </a:r>
            <a:endParaRPr lang="en-US" sz="1875" dirty="0"/>
          </a:p>
        </p:txBody>
      </p:sp>
      <p:sp>
        <p:nvSpPr>
          <p:cNvPr id="22" name="Shape 19"/>
          <p:cNvSpPr/>
          <p:nvPr/>
        </p:nvSpPr>
        <p:spPr>
          <a:xfrm>
            <a:off x="9353476" y="2229817"/>
            <a:ext cx="2438363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3813">
            <a:solidFill>
              <a:srgbClr val="C0442A"/>
            </a:solidFill>
            <a:prstDash val="solid"/>
          </a:ln>
          <a:effectLst>
            <a:outerShdw sx="100000" sy="100000" kx="0" ky="0" algn="bl" rotWithShape="0" blurRad="114300" dist="28575" dir="5400000">
              <a:srgbClr val="0F2044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605832" y="2463105"/>
            <a:ext cx="212701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22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Aggregator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9605832" y="2878336"/>
            <a:ext cx="2009849" cy="638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rules · classify</a:t>
            </a:r>
            <a:endParaRPr lang="en-US" sz="1875" dirty="0"/>
          </a:p>
        </p:txBody>
      </p:sp>
      <p:sp>
        <p:nvSpPr>
          <p:cNvPr id="25" name="Shape 22"/>
          <p:cNvSpPr/>
          <p:nvPr/>
        </p:nvSpPr>
        <p:spPr>
          <a:xfrm>
            <a:off x="12230044" y="2229817"/>
            <a:ext cx="2438363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3813">
            <a:solidFill>
              <a:srgbClr val="C0442A"/>
            </a:solidFill>
            <a:prstDash val="solid"/>
          </a:ln>
          <a:effectLst>
            <a:outerShdw sx="100000" sy="100000" kx="0" ky="0" algn="bl" rotWithShape="0" blurRad="114300" dist="28575" dir="5400000">
              <a:srgbClr val="0F2044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2482401" y="2463105"/>
            <a:ext cx="212701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22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Monetization</a:t>
            </a:r>
            <a:endParaRPr lang="en-US" sz="2250" dirty="0"/>
          </a:p>
        </p:txBody>
      </p:sp>
      <p:sp>
        <p:nvSpPr>
          <p:cNvPr id="27" name="Text 24"/>
          <p:cNvSpPr/>
          <p:nvPr/>
        </p:nvSpPr>
        <p:spPr>
          <a:xfrm>
            <a:off x="12482401" y="2878336"/>
            <a:ext cx="2009849" cy="638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· map · deliver</a:t>
            </a:r>
            <a:endParaRPr lang="en-US" sz="1875" dirty="0"/>
          </a:p>
        </p:txBody>
      </p:sp>
      <p:sp>
        <p:nvSpPr>
          <p:cNvPr id="28" name="Shape 25"/>
          <p:cNvSpPr/>
          <p:nvPr/>
        </p:nvSpPr>
        <p:spPr>
          <a:xfrm>
            <a:off x="15106613" y="2229817"/>
            <a:ext cx="2438363" cy="1905000"/>
          </a:xfrm>
          <a:prstGeom prst="roundRect">
            <a:avLst>
              <a:gd name="adj" fmla="val 6000"/>
            </a:avLst>
          </a:prstGeom>
          <a:solidFill>
            <a:srgbClr val="0F2044"/>
          </a:solidFill>
          <a:ln/>
        </p:spPr>
      </p:sp>
      <p:sp>
        <p:nvSpPr>
          <p:cNvPr id="29" name="Text 26"/>
          <p:cNvSpPr/>
          <p:nvPr/>
        </p:nvSpPr>
        <p:spPr>
          <a:xfrm>
            <a:off x="15335157" y="2439293"/>
            <a:ext cx="2057474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 / RPM Billing System</a:t>
            </a:r>
            <a:endParaRPr lang="en-US" sz="2250" dirty="0"/>
          </a:p>
        </p:txBody>
      </p:sp>
      <p:sp>
        <p:nvSpPr>
          <p:cNvPr id="30" name="Text 27"/>
          <p:cNvSpPr/>
          <p:nvPr/>
        </p:nvSpPr>
        <p:spPr>
          <a:xfrm>
            <a:off x="15335157" y="3174504"/>
            <a:ext cx="2179402" cy="3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5" dirty="0">
                <a:solidFill>
                  <a:srgbClr val="B9C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billing file</a:t>
            </a:r>
            <a:endParaRPr lang="en-US" sz="1875" dirty="0"/>
          </a:p>
        </p:txBody>
      </p:sp>
      <p:sp>
        <p:nvSpPr>
          <p:cNvPr id="31" name="Shape 28"/>
          <p:cNvSpPr/>
          <p:nvPr/>
        </p:nvSpPr>
        <p:spPr>
          <a:xfrm>
            <a:off x="6476907" y="5163499"/>
            <a:ext cx="2438363" cy="1409681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7859">
            <a:solidFill>
              <a:srgbClr val="1F613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23311" y="5371858"/>
            <a:ext cx="2140111" cy="3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84"/>
              </a:lnSpc>
              <a:buNone/>
            </a:pPr>
            <a:r>
              <a:rPr lang="en-US" sz="21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RAW_EVENTS</a:t>
            </a:r>
            <a:endParaRPr lang="en-US" sz="2100" dirty="0"/>
          </a:p>
        </p:txBody>
      </p:sp>
      <p:sp>
        <p:nvSpPr>
          <p:cNvPr id="33" name="Text 30"/>
          <p:cNvSpPr/>
          <p:nvPr/>
        </p:nvSpPr>
        <p:spPr>
          <a:xfrm>
            <a:off x="6723311" y="5746719"/>
            <a:ext cx="2140111" cy="3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of truth</a:t>
            </a:r>
            <a:endParaRPr lang="en-US" sz="1875" dirty="0"/>
          </a:p>
        </p:txBody>
      </p:sp>
      <p:sp>
        <p:nvSpPr>
          <p:cNvPr id="34" name="Shape 31"/>
          <p:cNvSpPr/>
          <p:nvPr/>
        </p:nvSpPr>
        <p:spPr>
          <a:xfrm>
            <a:off x="9353476" y="5163499"/>
            <a:ext cx="2438363" cy="1409681"/>
          </a:xfrm>
          <a:prstGeom prst="roundRect">
            <a:avLst>
              <a:gd name="adj" fmla="val 8108"/>
            </a:avLst>
          </a:prstGeom>
          <a:solidFill>
            <a:srgbClr val="FCEEEA"/>
          </a:solidFill>
          <a:ln w="17859">
            <a:solidFill>
              <a:srgbClr val="C0442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599879" y="5371858"/>
            <a:ext cx="2021756" cy="635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84"/>
              </a:lnSpc>
              <a:buNone/>
            </a:pPr>
            <a:r>
              <a:rPr lang="en-US" sz="21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Events</a:t>
            </a:r>
            <a:endParaRPr lang="en-US" sz="2100" dirty="0"/>
          </a:p>
        </p:txBody>
      </p:sp>
      <p:sp>
        <p:nvSpPr>
          <p:cNvPr id="36" name="Text 33"/>
          <p:cNvSpPr/>
          <p:nvPr/>
        </p:nvSpPr>
        <p:spPr>
          <a:xfrm>
            <a:off x="9599879" y="6045398"/>
            <a:ext cx="2140111" cy="3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5" dirty="0">
                <a:solidFill>
                  <a:srgbClr val="8C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· failed</a:t>
            </a:r>
            <a:endParaRPr lang="en-US" sz="1875" dirty="0"/>
          </a:p>
        </p:txBody>
      </p:sp>
      <p:sp>
        <p:nvSpPr>
          <p:cNvPr id="37" name="Shape 34"/>
          <p:cNvSpPr/>
          <p:nvPr/>
        </p:nvSpPr>
        <p:spPr>
          <a:xfrm>
            <a:off x="12230044" y="5163499"/>
            <a:ext cx="2438363" cy="1409681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7859">
            <a:solidFill>
              <a:srgbClr val="1F613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2476448" y="5371858"/>
            <a:ext cx="2140111" cy="3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84"/>
              </a:lnSpc>
              <a:buNone/>
            </a:pPr>
            <a:r>
              <a:rPr lang="en-US" sz="21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Parquet Files</a:t>
            </a:r>
            <a:endParaRPr lang="en-US" sz="2100" dirty="0"/>
          </a:p>
        </p:txBody>
      </p:sp>
      <p:sp>
        <p:nvSpPr>
          <p:cNvPr id="39" name="Text 36"/>
          <p:cNvSpPr/>
          <p:nvPr/>
        </p:nvSpPr>
        <p:spPr>
          <a:xfrm>
            <a:off x="12476448" y="5746719"/>
            <a:ext cx="2021756" cy="638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Billable · non-billable</a:t>
            </a:r>
            <a:endParaRPr lang="en-US" sz="1875" dirty="0"/>
          </a:p>
        </p:txBody>
      </p:sp>
      <p:sp>
        <p:nvSpPr>
          <p:cNvPr id="40" name="Shape 37"/>
          <p:cNvSpPr/>
          <p:nvPr/>
        </p:nvSpPr>
        <p:spPr>
          <a:xfrm>
            <a:off x="9353476" y="7373317"/>
            <a:ext cx="2438363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7859">
            <a:solidFill>
              <a:srgbClr val="155E6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599879" y="7581677"/>
            <a:ext cx="2021756" cy="635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84"/>
              </a:lnSpc>
              <a:buNone/>
            </a:pPr>
            <a:r>
              <a:rPr lang="en-US" sz="21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Engine on S3</a:t>
            </a:r>
            <a:endParaRPr lang="en-US" sz="2100" dirty="0"/>
          </a:p>
        </p:txBody>
      </p:sp>
      <p:sp>
        <p:nvSpPr>
          <p:cNvPr id="42" name="Text 39"/>
          <p:cNvSpPr/>
          <p:nvPr/>
        </p:nvSpPr>
        <p:spPr>
          <a:xfrm>
            <a:off x="9599879" y="8255217"/>
            <a:ext cx="2140111" cy="3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over Parquet</a:t>
            </a:r>
            <a:endParaRPr lang="en-US" sz="1875" dirty="0"/>
          </a:p>
        </p:txBody>
      </p:sp>
      <p:sp>
        <p:nvSpPr>
          <p:cNvPr id="43" name="Shape 40"/>
          <p:cNvSpPr/>
          <p:nvPr/>
        </p:nvSpPr>
        <p:spPr>
          <a:xfrm>
            <a:off x="12230044" y="7373317"/>
            <a:ext cx="2438363" cy="1524000"/>
          </a:xfrm>
          <a:prstGeom prst="roundRect">
            <a:avLst>
              <a:gd name="adj" fmla="val 7500"/>
            </a:avLst>
          </a:prstGeom>
          <a:solidFill>
            <a:srgbClr val="4A2A6B"/>
          </a:solidFill>
          <a:ln/>
        </p:spPr>
      </p:sp>
      <p:sp>
        <p:nvSpPr>
          <p:cNvPr id="44" name="Text 41"/>
          <p:cNvSpPr/>
          <p:nvPr/>
        </p:nvSpPr>
        <p:spPr>
          <a:xfrm>
            <a:off x="12458588" y="7563817"/>
            <a:ext cx="2057474" cy="635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84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&amp; Reports</a:t>
            </a:r>
            <a:endParaRPr lang="en-US" sz="2100" dirty="0"/>
          </a:p>
        </p:txBody>
      </p:sp>
      <p:sp>
        <p:nvSpPr>
          <p:cNvPr id="45" name="Text 42"/>
          <p:cNvSpPr/>
          <p:nvPr/>
        </p:nvSpPr>
        <p:spPr>
          <a:xfrm>
            <a:off x="12458588" y="8237358"/>
            <a:ext cx="2179402" cy="3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5" dirty="0">
                <a:solidFill>
                  <a:srgbClr val="D7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Tableau-style BI</a:t>
            </a:r>
            <a:endParaRPr lang="en-US" sz="1875" dirty="0"/>
          </a:p>
        </p:txBody>
      </p:sp>
      <p:sp>
        <p:nvSpPr>
          <p:cNvPr id="46" name="Shape 43"/>
          <p:cNvSpPr/>
          <p:nvPr/>
        </p:nvSpPr>
        <p:spPr>
          <a:xfrm>
            <a:off x="15106613" y="7373317"/>
            <a:ext cx="2438363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7859">
            <a:solidFill>
              <a:srgbClr val="155E6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5353016" y="7581677"/>
            <a:ext cx="2140111" cy="3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84"/>
              </a:lnSpc>
              <a:buNone/>
            </a:pPr>
            <a:r>
              <a:rPr lang="en-US" sz="21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2100" dirty="0"/>
          </a:p>
        </p:txBody>
      </p:sp>
      <p:sp>
        <p:nvSpPr>
          <p:cNvPr id="48" name="Text 45"/>
          <p:cNvSpPr/>
          <p:nvPr/>
        </p:nvSpPr>
        <p:spPr>
          <a:xfrm>
            <a:off x="15353016" y="7956538"/>
            <a:ext cx="2021756" cy="638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&amp; monthly aggregates</a:t>
            </a:r>
            <a:endParaRPr lang="en-US" sz="1875" dirty="0"/>
          </a:p>
        </p:txBody>
      </p:sp>
      <p:sp>
        <p:nvSpPr>
          <p:cNvPr id="49" name="Shape 46"/>
          <p:cNvSpPr/>
          <p:nvPr/>
        </p:nvSpPr>
        <p:spPr>
          <a:xfrm>
            <a:off x="723863" y="9240180"/>
            <a:ext cx="16821113" cy="704794"/>
          </a:xfrm>
          <a:prstGeom prst="roundRect">
            <a:avLst>
              <a:gd name="adj" fmla="val 16218"/>
            </a:avLst>
          </a:prstGeom>
          <a:solidFill>
            <a:srgbClr val="F5E9C8"/>
          </a:solidFill>
          <a:ln w="17859">
            <a:solidFill>
              <a:srgbClr val="DFC97E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008404" y="9440726"/>
            <a:ext cx="2853789" cy="341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3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Reconciliation</a:t>
            </a:r>
            <a:endParaRPr lang="en-US" sz="2100" dirty="0"/>
          </a:p>
        </p:txBody>
      </p:sp>
      <p:sp>
        <p:nvSpPr>
          <p:cNvPr id="51" name="Text 48"/>
          <p:cNvSpPr/>
          <p:nvPr/>
        </p:nvSpPr>
        <p:spPr>
          <a:xfrm>
            <a:off x="3850370" y="9422867"/>
            <a:ext cx="7345812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totals · full event lifecycle · applies across every stage above</a:t>
            </a:r>
            <a:endParaRPr lang="en-US" sz="18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63" y="704794"/>
            <a:ext cx="181052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Guarantees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914363" y="1514419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914363" y="1781008"/>
            <a:ext cx="14668500" cy="424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96"/>
              </a:lnSpc>
              <a:buNone/>
            </a:pPr>
            <a:r>
              <a:rPr lang="en-US" sz="21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guarantees are built into the pipeline, not added afterwards — this is why the billing output can be defended.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14363" y="2910706"/>
            <a:ext cx="8058206" cy="2551100"/>
          </a:xfrm>
          <a:prstGeom prst="roundRect">
            <a:avLst>
              <a:gd name="adj" fmla="val 4480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0316" y="2916659"/>
            <a:ext cx="8046300" cy="900038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7" name="Text 5"/>
          <p:cNvSpPr/>
          <p:nvPr/>
        </p:nvSpPr>
        <p:spPr>
          <a:xfrm>
            <a:off x="1206066" y="3164309"/>
            <a:ext cx="7716189" cy="442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data loss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63216" y="4235797"/>
            <a:ext cx="7601889" cy="839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593"/>
              </a:lnSpc>
              <a:buNone/>
            </a:pPr>
            <a:r>
              <a:rPr lang="en-US" sz="21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event is confirmed in storage before the pipeline moves on. Nothing is dropped silently.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315431" y="2910706"/>
            <a:ext cx="8058206" cy="2551100"/>
          </a:xfrm>
          <a:prstGeom prst="roundRect">
            <a:avLst>
              <a:gd name="adj" fmla="val 4480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1385" y="2916659"/>
            <a:ext cx="8046300" cy="900038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11" name="Text 9"/>
          <p:cNvSpPr/>
          <p:nvPr/>
        </p:nvSpPr>
        <p:spPr>
          <a:xfrm>
            <a:off x="9607135" y="3164309"/>
            <a:ext cx="7716189" cy="442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duplicate billing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664285" y="4235797"/>
            <a:ext cx="7601889" cy="839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593"/>
              </a:lnSpc>
              <a:buNone/>
            </a:pPr>
            <a:r>
              <a:rPr lang="en-US" sz="21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event is de-duplicated individually, so a retry never becomes a second charge.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914363" y="5804669"/>
            <a:ext cx="8058206" cy="2551100"/>
          </a:xfrm>
          <a:prstGeom prst="roundRect">
            <a:avLst>
              <a:gd name="adj" fmla="val 4480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0316" y="5810622"/>
            <a:ext cx="8046300" cy="900038"/>
          </a:xfrm>
          <a:prstGeom prst="rect">
            <a:avLst/>
          </a:prstGeom>
          <a:solidFill>
            <a:srgbClr val="1F6135"/>
          </a:solidFill>
          <a:ln/>
        </p:spPr>
      </p:sp>
      <p:sp>
        <p:nvSpPr>
          <p:cNvPr id="15" name="Text 13"/>
          <p:cNvSpPr/>
          <p:nvPr/>
        </p:nvSpPr>
        <p:spPr>
          <a:xfrm>
            <a:off x="1206066" y="6058272"/>
            <a:ext cx="7716189" cy="442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at scale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63216" y="7129760"/>
            <a:ext cx="7601889" cy="839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593"/>
              </a:lnSpc>
              <a:buNone/>
            </a:pPr>
            <a:r>
              <a:rPr lang="en-US" sz="21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Batched, stateless processing keeps memory bounded regardless of volume or backlog.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9315431" y="5804669"/>
            <a:ext cx="8058206" cy="2551100"/>
          </a:xfrm>
          <a:prstGeom prst="roundRect">
            <a:avLst>
              <a:gd name="adj" fmla="val 4480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1385" y="5810622"/>
            <a:ext cx="8046300" cy="900038"/>
          </a:xfrm>
          <a:prstGeom prst="rect">
            <a:avLst/>
          </a:prstGeom>
          <a:solidFill>
            <a:srgbClr val="155E63"/>
          </a:solidFill>
          <a:ln/>
        </p:spPr>
      </p:sp>
      <p:sp>
        <p:nvSpPr>
          <p:cNvPr id="19" name="Text 17"/>
          <p:cNvSpPr/>
          <p:nvPr/>
        </p:nvSpPr>
        <p:spPr>
          <a:xfrm>
            <a:off x="9607135" y="6058272"/>
            <a:ext cx="7716189" cy="442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 by design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664285" y="7129760"/>
            <a:ext cx="7601889" cy="839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593"/>
              </a:lnSpc>
              <a:buNone/>
            </a:pPr>
            <a:r>
              <a:rPr lang="en-US" sz="21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downstream system is unavailable, processing pauses and resumes automatically — without loss.</a:t>
            </a:r>
            <a:endParaRPr lang="en-US" sz="21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63" y="704794"/>
            <a:ext cx="181052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Reusability &amp; Extensibility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914363" y="1514419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914363" y="2295302"/>
            <a:ext cx="114226" cy="114226"/>
          </a:xfrm>
          <a:prstGeom prst="rect">
            <a:avLst/>
          </a:prstGeom>
          <a:solidFill>
            <a:srgbClr val="A4123F"/>
          </a:solidFill>
          <a:ln/>
        </p:spPr>
      </p:sp>
      <p:sp>
        <p:nvSpPr>
          <p:cNvPr id="5" name="Text 3"/>
          <p:cNvSpPr/>
          <p:nvPr/>
        </p:nvSpPr>
        <p:spPr>
          <a:xfrm>
            <a:off x="1219088" y="2162008"/>
            <a:ext cx="8606538" cy="823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96"/>
              </a:lnSpc>
              <a:buNone/>
            </a:pPr>
            <a:r>
              <a:rPr lang="en-US" sz="2175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engine, many use cases. </a:t>
            </a:r>
            <a:pPr algn="l" indent="0" marL="0">
              <a:lnSpc>
                <a:spcPct val="120296"/>
              </a:lnSpc>
              <a:buNone/>
            </a:pPr>
            <a:r>
              <a:rPr lang="en-US" sz="21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application that needs to bill a third party or aggregator plugs into the same pipeline.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14363" y="3309286"/>
            <a:ext cx="114226" cy="114226"/>
          </a:xfrm>
          <a:prstGeom prst="rect">
            <a:avLst/>
          </a:prstGeom>
          <a:solidFill>
            <a:srgbClr val="A4123F"/>
          </a:solidFill>
          <a:ln/>
        </p:spPr>
      </p:sp>
      <p:sp>
        <p:nvSpPr>
          <p:cNvPr id="7" name="Text 5"/>
          <p:cNvSpPr/>
          <p:nvPr/>
        </p:nvSpPr>
        <p:spPr>
          <a:xfrm>
            <a:off x="1219088" y="3175992"/>
            <a:ext cx="8606538" cy="823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96"/>
              </a:lnSpc>
              <a:buNone/>
            </a:pPr>
            <a:r>
              <a:rPr lang="en-US" sz="2175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by configuration, not code. </a:t>
            </a:r>
            <a:pPr algn="l" indent="0" marL="0">
              <a:lnSpc>
                <a:spcPct val="120296"/>
              </a:lnSpc>
              <a:buNone/>
            </a:pPr>
            <a:r>
              <a:rPr lang="en-US" sz="21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sources, clusters and pricing rules are config changes.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914363" y="4323271"/>
            <a:ext cx="114226" cy="114226"/>
          </a:xfrm>
          <a:prstGeom prst="rect">
            <a:avLst/>
          </a:prstGeom>
          <a:solidFill>
            <a:srgbClr val="A4123F"/>
          </a:solidFill>
          <a:ln/>
        </p:spPr>
      </p:sp>
      <p:sp>
        <p:nvSpPr>
          <p:cNvPr id="9" name="Text 7"/>
          <p:cNvSpPr/>
          <p:nvPr/>
        </p:nvSpPr>
        <p:spPr>
          <a:xfrm>
            <a:off x="1219088" y="4189977"/>
            <a:ext cx="8606538" cy="823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96"/>
              </a:lnSpc>
              <a:buNone/>
            </a:pPr>
            <a:r>
              <a:rPr lang="en-US" sz="2175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capabilities for free. </a:t>
            </a:r>
            <a:pPr algn="l" indent="0" marL="0">
              <a:lnSpc>
                <a:spcPct val="120296"/>
              </a:lnSpc>
              <a:buNone/>
            </a:pPr>
            <a:r>
              <a:rPr lang="en-US" sz="21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Validation, audit, reconciliation and reporting come with the platform.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914363" y="5337256"/>
            <a:ext cx="114226" cy="114226"/>
          </a:xfrm>
          <a:prstGeom prst="rect">
            <a:avLst/>
          </a:prstGeom>
          <a:solidFill>
            <a:srgbClr val="A4123F"/>
          </a:solidFill>
          <a:ln/>
        </p:spPr>
      </p:sp>
      <p:sp>
        <p:nvSpPr>
          <p:cNvPr id="11" name="Text 9"/>
          <p:cNvSpPr/>
          <p:nvPr/>
        </p:nvSpPr>
        <p:spPr>
          <a:xfrm>
            <a:off x="1219088" y="5203961"/>
            <a:ext cx="8606538" cy="823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96"/>
              </a:lnSpc>
              <a:buNone/>
            </a:pPr>
            <a:r>
              <a:rPr lang="en-US" sz="2175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Avoids duplicate build. </a:t>
            </a:r>
            <a:pPr algn="l" indent="0" marL="0">
              <a:lnSpc>
                <a:spcPct val="120296"/>
              </a:lnSpc>
              <a:buNone/>
            </a:pPr>
            <a:r>
              <a:rPr lang="en-US" sz="21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new billing need reuses the pipeline instead of funding a new one.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10108313" y="2162008"/>
            <a:ext cx="7265324" cy="3507042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2544" y="2701323"/>
            <a:ext cx="705686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72" kern="0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VALUE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437081" y="3346586"/>
            <a:ext cx="6607789" cy="1821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Multiple Sources Multiple Billing Providers</a:t>
            </a:r>
            <a:endParaRPr lang="en-US" sz="3900" dirty="0"/>
          </a:p>
        </p:txBody>
      </p:sp>
      <p:sp>
        <p:nvSpPr>
          <p:cNvPr id="15" name="Shape 13"/>
          <p:cNvSpPr/>
          <p:nvPr/>
        </p:nvSpPr>
        <p:spPr>
          <a:xfrm>
            <a:off x="914363" y="6598946"/>
            <a:ext cx="3957712" cy="1450051"/>
          </a:xfrm>
          <a:prstGeom prst="roundRect">
            <a:avLst>
              <a:gd name="adj" fmla="val 6569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363" y="8043044"/>
            <a:ext cx="3957712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363" y="6598946"/>
            <a:ext cx="3957712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363" y="6598946"/>
            <a:ext cx="47625" cy="1450051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9" name="Shape 17"/>
          <p:cNvSpPr/>
          <p:nvPr/>
        </p:nvSpPr>
        <p:spPr>
          <a:xfrm>
            <a:off x="4866122" y="6598946"/>
            <a:ext cx="9525" cy="1450051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0" name="Text 18"/>
          <p:cNvSpPr/>
          <p:nvPr/>
        </p:nvSpPr>
        <p:spPr>
          <a:xfrm>
            <a:off x="1209601" y="6833443"/>
            <a:ext cx="374979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time to market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09601" y="7171562"/>
            <a:ext cx="3511175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to onboard, not a new programme.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5081550" y="6598946"/>
            <a:ext cx="3957712" cy="1450051"/>
          </a:xfrm>
          <a:prstGeom prst="roundRect">
            <a:avLst>
              <a:gd name="adj" fmla="val 6569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081550" y="8043044"/>
            <a:ext cx="3957712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4" name="Shape 22"/>
          <p:cNvSpPr/>
          <p:nvPr/>
        </p:nvSpPr>
        <p:spPr>
          <a:xfrm>
            <a:off x="5081550" y="6598946"/>
            <a:ext cx="3957712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5" name="Shape 23"/>
          <p:cNvSpPr/>
          <p:nvPr/>
        </p:nvSpPr>
        <p:spPr>
          <a:xfrm>
            <a:off x="5081550" y="6598946"/>
            <a:ext cx="47625" cy="1450051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26" name="Shape 24"/>
          <p:cNvSpPr/>
          <p:nvPr/>
        </p:nvSpPr>
        <p:spPr>
          <a:xfrm>
            <a:off x="9033309" y="6598946"/>
            <a:ext cx="9525" cy="1450051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7" name="Text 25"/>
          <p:cNvSpPr/>
          <p:nvPr/>
        </p:nvSpPr>
        <p:spPr>
          <a:xfrm>
            <a:off x="5376788" y="6833443"/>
            <a:ext cx="374979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cost per use case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76788" y="7171562"/>
            <a:ext cx="3511175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cost, shared across apps.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9248738" y="6598946"/>
            <a:ext cx="3957712" cy="1450051"/>
          </a:xfrm>
          <a:prstGeom prst="roundRect">
            <a:avLst>
              <a:gd name="adj" fmla="val 6569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9248738" y="8043044"/>
            <a:ext cx="3957712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31" name="Shape 29"/>
          <p:cNvSpPr/>
          <p:nvPr/>
        </p:nvSpPr>
        <p:spPr>
          <a:xfrm>
            <a:off x="9248738" y="6598946"/>
            <a:ext cx="3957712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32" name="Shape 30"/>
          <p:cNvSpPr/>
          <p:nvPr/>
        </p:nvSpPr>
        <p:spPr>
          <a:xfrm>
            <a:off x="9248738" y="6598946"/>
            <a:ext cx="47625" cy="1450051"/>
          </a:xfrm>
          <a:prstGeom prst="rect">
            <a:avLst/>
          </a:prstGeom>
          <a:solidFill>
            <a:srgbClr val="1F6135"/>
          </a:solidFill>
          <a:ln/>
        </p:spPr>
      </p:sp>
      <p:sp>
        <p:nvSpPr>
          <p:cNvPr id="33" name="Shape 31"/>
          <p:cNvSpPr/>
          <p:nvPr/>
        </p:nvSpPr>
        <p:spPr>
          <a:xfrm>
            <a:off x="13200497" y="6598946"/>
            <a:ext cx="9525" cy="1450051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34" name="Text 32"/>
          <p:cNvSpPr/>
          <p:nvPr/>
        </p:nvSpPr>
        <p:spPr>
          <a:xfrm>
            <a:off x="9543976" y="6833443"/>
            <a:ext cx="374979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controls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543976" y="7171562"/>
            <a:ext cx="3511175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audit and reconciliation everywhere.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13415925" y="6598946"/>
            <a:ext cx="3957712" cy="1450051"/>
          </a:xfrm>
          <a:prstGeom prst="roundRect">
            <a:avLst>
              <a:gd name="adj" fmla="val 6569"/>
            </a:avLst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3415925" y="8043044"/>
            <a:ext cx="3957712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38" name="Shape 36"/>
          <p:cNvSpPr/>
          <p:nvPr/>
        </p:nvSpPr>
        <p:spPr>
          <a:xfrm>
            <a:off x="13415925" y="6598946"/>
            <a:ext cx="3957712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39" name="Shape 37"/>
          <p:cNvSpPr/>
          <p:nvPr/>
        </p:nvSpPr>
        <p:spPr>
          <a:xfrm>
            <a:off x="13415925" y="6598946"/>
            <a:ext cx="47625" cy="1450051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0" name="Shape 38"/>
          <p:cNvSpPr/>
          <p:nvPr/>
        </p:nvSpPr>
        <p:spPr>
          <a:xfrm>
            <a:off x="17367684" y="6598946"/>
            <a:ext cx="9525" cy="1450051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41" name="Text 39"/>
          <p:cNvSpPr/>
          <p:nvPr/>
        </p:nvSpPr>
        <p:spPr>
          <a:xfrm>
            <a:off x="13711163" y="6833443"/>
            <a:ext cx="374979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risk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3711163" y="7171562"/>
            <a:ext cx="3511175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pipeline instead of new code paths.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63" y="704794"/>
            <a:ext cx="181052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Reusability in Practice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914363" y="1514419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914363" y="1761939"/>
            <a:ext cx="15087600" cy="424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96"/>
              </a:lnSpc>
              <a:buNone/>
            </a:pPr>
            <a:r>
              <a:rPr lang="en-US" sz="21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billing use case inherits the whole pipeline. These capabilities do not have to be built, tested or audited again.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14363" y="2682069"/>
            <a:ext cx="5295863" cy="4170164"/>
          </a:xfrm>
          <a:prstGeom prst="roundRect">
            <a:avLst>
              <a:gd name="adj" fmla="val 2741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0316" y="2688022"/>
            <a:ext cx="5283957" cy="817811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7" name="Text 5"/>
          <p:cNvSpPr/>
          <p:nvPr/>
        </p:nvSpPr>
        <p:spPr>
          <a:xfrm>
            <a:off x="1187016" y="2897572"/>
            <a:ext cx="4909075" cy="43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Inherited Capabilities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1206066" y="3829627"/>
            <a:ext cx="5183702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ingestion &amp; buffering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06066" y="4303830"/>
            <a:ext cx="5183702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de-duplication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06066" y="4778034"/>
            <a:ext cx="5183702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 &amp; classification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06066" y="5252238"/>
            <a:ext cx="5183702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rule engine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06066" y="5726441"/>
            <a:ext cx="5183702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file generation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06066" y="6200645"/>
            <a:ext cx="5183702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reconciliation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6495976" y="2682069"/>
            <a:ext cx="5295956" cy="4170164"/>
          </a:xfrm>
          <a:prstGeom prst="roundRect">
            <a:avLst>
              <a:gd name="adj" fmla="val 2741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01929" y="2688022"/>
            <a:ext cx="5284050" cy="817811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16" name="Text 14"/>
          <p:cNvSpPr/>
          <p:nvPr/>
        </p:nvSpPr>
        <p:spPr>
          <a:xfrm>
            <a:off x="6768629" y="2897572"/>
            <a:ext cx="4909171" cy="43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Configured, Not Coded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6787679" y="3829627"/>
            <a:ext cx="5183805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source system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787679" y="4303830"/>
            <a:ext cx="5183805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aggregator or recipient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787679" y="4778034"/>
            <a:ext cx="5183805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billing cluster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787679" y="5252238"/>
            <a:ext cx="5183805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&amp; rate changes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787679" y="5726441"/>
            <a:ext cx="5183805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schedule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787679" y="6200645"/>
            <a:ext cx="5183805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format &amp; delivery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2077681" y="2682069"/>
            <a:ext cx="5295956" cy="4170164"/>
          </a:xfrm>
          <a:prstGeom prst="roundRect">
            <a:avLst>
              <a:gd name="adj" fmla="val 2741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083635" y="2688022"/>
            <a:ext cx="5284050" cy="817811"/>
          </a:xfrm>
          <a:prstGeom prst="rect">
            <a:avLst/>
          </a:prstGeom>
          <a:solidFill>
            <a:srgbClr val="1F6135"/>
          </a:solidFill>
          <a:ln/>
        </p:spPr>
      </p:sp>
      <p:sp>
        <p:nvSpPr>
          <p:cNvPr id="25" name="Text 23"/>
          <p:cNvSpPr/>
          <p:nvPr/>
        </p:nvSpPr>
        <p:spPr>
          <a:xfrm>
            <a:off x="12350335" y="2897572"/>
            <a:ext cx="4909171" cy="43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Points</a:t>
            </a:r>
            <a:endParaRPr lang="en-US" sz="2175" dirty="0"/>
          </a:p>
        </p:txBody>
      </p:sp>
      <p:sp>
        <p:nvSpPr>
          <p:cNvPr id="26" name="Text 24"/>
          <p:cNvSpPr/>
          <p:nvPr/>
        </p:nvSpPr>
        <p:spPr>
          <a:xfrm>
            <a:off x="12369385" y="3829627"/>
            <a:ext cx="5183805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provider adapters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2369385" y="4303830"/>
            <a:ext cx="5183805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validation rules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2369385" y="4778034"/>
            <a:ext cx="5183805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aggregation dimensions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2369385" y="5252238"/>
            <a:ext cx="5183805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Alternate pricing models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2369385" y="5726441"/>
            <a:ext cx="5183805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BI extensions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2369385" y="6200645"/>
            <a:ext cx="5183805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Chargeback / showback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14363" y="7366527"/>
            <a:ext cx="16459274" cy="828601"/>
          </a:xfrm>
          <a:prstGeom prst="roundRect">
            <a:avLst>
              <a:gd name="adj" fmla="val 11495"/>
            </a:avLst>
          </a:prstGeom>
          <a:solidFill>
            <a:srgbClr val="F5E9C8"/>
          </a:solidFill>
          <a:ln w="5953">
            <a:solidFill>
              <a:srgbClr val="DFC97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4121" y="7620093"/>
            <a:ext cx="17379758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3D3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use case starts at 80% complete.</a:t>
            </a:r>
            <a:endParaRPr lang="en-US" sz="21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63" y="704794"/>
            <a:ext cx="181052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Provider Integration Model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914363" y="1514419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914363" y="1781008"/>
            <a:ext cx="18105202" cy="401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usage is delivered to the ACO / RPM billing system today, and to future billing providers through adapters.</a:t>
            </a:r>
            <a:endParaRPr lang="en-US" sz="2025" dirty="0"/>
          </a:p>
        </p:txBody>
      </p:sp>
      <p:sp>
        <p:nvSpPr>
          <p:cNvPr id="5" name="Shape 3"/>
          <p:cNvSpPr/>
          <p:nvPr/>
        </p:nvSpPr>
        <p:spPr>
          <a:xfrm>
            <a:off x="914363" y="3591874"/>
            <a:ext cx="3143250" cy="1188765"/>
          </a:xfrm>
          <a:prstGeom prst="roundRect">
            <a:avLst>
              <a:gd name="adj" fmla="val 9615"/>
            </a:avLst>
          </a:prstGeom>
          <a:solidFill>
            <a:srgbClr val="0F2044"/>
          </a:solidFill>
          <a:ln/>
        </p:spPr>
      </p:sp>
      <p:sp>
        <p:nvSpPr>
          <p:cNvPr id="6" name="Text 4"/>
          <p:cNvSpPr/>
          <p:nvPr/>
        </p:nvSpPr>
        <p:spPr>
          <a:xfrm>
            <a:off x="1141896" y="3877624"/>
            <a:ext cx="2688184" cy="655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796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Usage from Metering Engine</a:t>
            </a:r>
            <a:endParaRPr lang="en-US" sz="202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2863" y="3972874"/>
            <a:ext cx="952500" cy="2285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219588" y="3591874"/>
            <a:ext cx="3143250" cy="1188765"/>
          </a:xfrm>
          <a:prstGeom prst="roundRect">
            <a:avLst>
              <a:gd name="adj" fmla="val 9615"/>
            </a:avLst>
          </a:prstGeom>
          <a:solidFill>
            <a:srgbClr val="C0442A"/>
          </a:solidFill>
          <a:ln/>
        </p:spPr>
      </p:sp>
      <p:sp>
        <p:nvSpPr>
          <p:cNvPr id="9" name="Text 6"/>
          <p:cNvSpPr/>
          <p:nvPr/>
        </p:nvSpPr>
        <p:spPr>
          <a:xfrm>
            <a:off x="5447121" y="3877624"/>
            <a:ext cx="2688184" cy="655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796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Provider Adapter Layer</a:t>
            </a:r>
            <a:endParaRPr lang="en-US" sz="2025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39113" y="2715555"/>
            <a:ext cx="4000500" cy="28575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487113" y="2963168"/>
            <a:ext cx="2381250" cy="1183370"/>
          </a:xfrm>
          <a:prstGeom prst="roundRect">
            <a:avLst>
              <a:gd name="adj" fmla="val 9659"/>
            </a:avLst>
          </a:prstGeom>
          <a:solidFill>
            <a:srgbClr val="1F6135"/>
          </a:solidFill>
          <a:ln/>
        </p:spPr>
      </p:sp>
      <p:sp>
        <p:nvSpPr>
          <p:cNvPr id="12" name="Text 8"/>
          <p:cNvSpPr/>
          <p:nvPr/>
        </p:nvSpPr>
        <p:spPr>
          <a:xfrm>
            <a:off x="12006151" y="3210781"/>
            <a:ext cx="141937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 / RPM</a:t>
            </a:r>
            <a:endParaRPr lang="en-US" sz="2025" dirty="0"/>
          </a:p>
        </p:txBody>
      </p:sp>
      <p:sp>
        <p:nvSpPr>
          <p:cNvPr id="13" name="Text 9"/>
          <p:cNvSpPr/>
          <p:nvPr/>
        </p:nvSpPr>
        <p:spPr>
          <a:xfrm>
            <a:off x="11598473" y="3559597"/>
            <a:ext cx="2158529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BFE0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875" dirty="0"/>
          </a:p>
        </p:txBody>
      </p:sp>
      <p:sp>
        <p:nvSpPr>
          <p:cNvPr id="14" name="Shape 10"/>
          <p:cNvSpPr/>
          <p:nvPr/>
        </p:nvSpPr>
        <p:spPr>
          <a:xfrm>
            <a:off x="11487113" y="4449124"/>
            <a:ext cx="2381250" cy="1183370"/>
          </a:xfrm>
          <a:prstGeom prst="roundRect">
            <a:avLst>
              <a:gd name="adj" fmla="val 9659"/>
            </a:avLst>
          </a:prstGeom>
          <a:solidFill>
            <a:srgbClr val="4A2A6B"/>
          </a:solidFill>
          <a:ln/>
        </p:spPr>
      </p:sp>
      <p:sp>
        <p:nvSpPr>
          <p:cNvPr id="15" name="Text 11"/>
          <p:cNvSpPr/>
          <p:nvPr/>
        </p:nvSpPr>
        <p:spPr>
          <a:xfrm>
            <a:off x="11791559" y="4696737"/>
            <a:ext cx="184855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Provider</a:t>
            </a:r>
            <a:endParaRPr lang="en-US" sz="2025" dirty="0"/>
          </a:p>
        </p:txBody>
      </p:sp>
      <p:sp>
        <p:nvSpPr>
          <p:cNvPr id="16" name="Text 12"/>
          <p:cNvSpPr/>
          <p:nvPr/>
        </p:nvSpPr>
        <p:spPr>
          <a:xfrm>
            <a:off x="11598473" y="5045552"/>
            <a:ext cx="2158529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D7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adapter</a:t>
            </a:r>
            <a:endParaRPr lang="en-US" sz="1875" dirty="0"/>
          </a:p>
        </p:txBody>
      </p:sp>
      <p:sp>
        <p:nvSpPr>
          <p:cNvPr id="17" name="Shape 13"/>
          <p:cNvSpPr/>
          <p:nvPr/>
        </p:nvSpPr>
        <p:spPr>
          <a:xfrm>
            <a:off x="914363" y="5896942"/>
            <a:ext cx="5321350" cy="2551193"/>
          </a:xfrm>
          <a:prstGeom prst="roundRect">
            <a:avLst>
              <a:gd name="adj" fmla="val 4480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20316" y="5902896"/>
            <a:ext cx="5309443" cy="625078"/>
          </a:xfrm>
          <a:prstGeom prst="rect">
            <a:avLst/>
          </a:prstGeom>
          <a:solidFill>
            <a:srgbClr val="8C1230"/>
          </a:solidFill>
          <a:ln/>
        </p:spPr>
      </p:sp>
      <p:sp>
        <p:nvSpPr>
          <p:cNvPr id="19" name="Text 15"/>
          <p:cNvSpPr/>
          <p:nvPr/>
        </p:nvSpPr>
        <p:spPr>
          <a:xfrm>
            <a:off x="1148916" y="6045771"/>
            <a:ext cx="5011527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Configuration</a:t>
            </a:r>
            <a:endParaRPr lang="en-US" sz="1875" dirty="0"/>
          </a:p>
        </p:txBody>
      </p:sp>
      <p:sp>
        <p:nvSpPr>
          <p:cNvPr id="20" name="Text 16"/>
          <p:cNvSpPr/>
          <p:nvPr/>
        </p:nvSpPr>
        <p:spPr>
          <a:xfrm>
            <a:off x="1167929" y="6737449"/>
            <a:ext cx="5295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format</a:t>
            </a:r>
            <a:endParaRPr lang="en-US" sz="1875" dirty="0"/>
          </a:p>
        </p:txBody>
      </p:sp>
      <p:sp>
        <p:nvSpPr>
          <p:cNvPr id="21" name="Text 17"/>
          <p:cNvSpPr/>
          <p:nvPr/>
        </p:nvSpPr>
        <p:spPr>
          <a:xfrm>
            <a:off x="1167929" y="7132681"/>
            <a:ext cx="5295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mechanism</a:t>
            </a:r>
            <a:endParaRPr lang="en-US" sz="1875" dirty="0"/>
          </a:p>
        </p:txBody>
      </p:sp>
      <p:sp>
        <p:nvSpPr>
          <p:cNvPr id="22" name="Text 18"/>
          <p:cNvSpPr/>
          <p:nvPr/>
        </p:nvSpPr>
        <p:spPr>
          <a:xfrm>
            <a:off x="1167929" y="7527913"/>
            <a:ext cx="5295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 level</a:t>
            </a:r>
            <a:endParaRPr lang="en-US" sz="1875" dirty="0"/>
          </a:p>
        </p:txBody>
      </p:sp>
      <p:sp>
        <p:nvSpPr>
          <p:cNvPr id="23" name="Text 19"/>
          <p:cNvSpPr/>
          <p:nvPr/>
        </p:nvSpPr>
        <p:spPr>
          <a:xfrm>
            <a:off x="1167929" y="7923144"/>
            <a:ext cx="5295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schedule &amp; control totals</a:t>
            </a:r>
            <a:endParaRPr lang="en-US" sz="1875" dirty="0"/>
          </a:p>
        </p:txBody>
      </p:sp>
      <p:sp>
        <p:nvSpPr>
          <p:cNvPr id="24" name="Shape 20"/>
          <p:cNvSpPr/>
          <p:nvPr/>
        </p:nvSpPr>
        <p:spPr>
          <a:xfrm>
            <a:off x="6483325" y="5896942"/>
            <a:ext cx="5321350" cy="2551193"/>
          </a:xfrm>
          <a:prstGeom prst="roundRect">
            <a:avLst>
              <a:gd name="adj" fmla="val 4480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489278" y="5902896"/>
            <a:ext cx="5309443" cy="625078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6" name="Text 22"/>
          <p:cNvSpPr/>
          <p:nvPr/>
        </p:nvSpPr>
        <p:spPr>
          <a:xfrm>
            <a:off x="6717878" y="6045771"/>
            <a:ext cx="5011527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Independence</a:t>
            </a:r>
            <a:endParaRPr lang="en-US" sz="1875" dirty="0"/>
          </a:p>
        </p:txBody>
      </p:sp>
      <p:sp>
        <p:nvSpPr>
          <p:cNvPr id="27" name="Text 23"/>
          <p:cNvSpPr/>
          <p:nvPr/>
        </p:nvSpPr>
        <p:spPr>
          <a:xfrm>
            <a:off x="6736891" y="6737449"/>
            <a:ext cx="5295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isolates provider rules</a:t>
            </a:r>
            <a:endParaRPr lang="en-US" sz="1875" dirty="0"/>
          </a:p>
        </p:txBody>
      </p:sp>
      <p:sp>
        <p:nvSpPr>
          <p:cNvPr id="28" name="Text 24"/>
          <p:cNvSpPr/>
          <p:nvPr/>
        </p:nvSpPr>
        <p:spPr>
          <a:xfrm>
            <a:off x="6736891" y="7132681"/>
            <a:ext cx="5295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changes do not impact sources</a:t>
            </a:r>
            <a:endParaRPr lang="en-US" sz="1875" dirty="0"/>
          </a:p>
        </p:txBody>
      </p:sp>
      <p:sp>
        <p:nvSpPr>
          <p:cNvPr id="29" name="Text 25"/>
          <p:cNvSpPr/>
          <p:nvPr/>
        </p:nvSpPr>
        <p:spPr>
          <a:xfrm>
            <a:off x="6736891" y="7527913"/>
            <a:ext cx="5295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providers can coexist</a:t>
            </a:r>
            <a:endParaRPr lang="en-US" sz="1875" dirty="0"/>
          </a:p>
        </p:txBody>
      </p:sp>
      <p:sp>
        <p:nvSpPr>
          <p:cNvPr id="30" name="Text 26"/>
          <p:cNvSpPr/>
          <p:nvPr/>
        </p:nvSpPr>
        <p:spPr>
          <a:xfrm>
            <a:off x="6736891" y="7923144"/>
            <a:ext cx="5295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migration is lower risk</a:t>
            </a:r>
            <a:endParaRPr lang="en-US" sz="1875" dirty="0"/>
          </a:p>
        </p:txBody>
      </p:sp>
      <p:sp>
        <p:nvSpPr>
          <p:cNvPr id="31" name="Shape 27"/>
          <p:cNvSpPr/>
          <p:nvPr/>
        </p:nvSpPr>
        <p:spPr>
          <a:xfrm>
            <a:off x="12052288" y="5896942"/>
            <a:ext cx="5321350" cy="2551193"/>
          </a:xfrm>
          <a:prstGeom prst="roundRect">
            <a:avLst>
              <a:gd name="adj" fmla="val 4480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2058241" y="5902896"/>
            <a:ext cx="5309443" cy="625078"/>
          </a:xfrm>
          <a:prstGeom prst="rect">
            <a:avLst/>
          </a:prstGeom>
          <a:solidFill>
            <a:srgbClr val="1F6135"/>
          </a:solidFill>
          <a:ln/>
        </p:spPr>
      </p:sp>
      <p:sp>
        <p:nvSpPr>
          <p:cNvPr id="33" name="Text 29"/>
          <p:cNvSpPr/>
          <p:nvPr/>
        </p:nvSpPr>
        <p:spPr>
          <a:xfrm>
            <a:off x="12286841" y="6045771"/>
            <a:ext cx="5011527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Governance</a:t>
            </a:r>
            <a:endParaRPr lang="en-US" sz="1875" dirty="0"/>
          </a:p>
        </p:txBody>
      </p:sp>
      <p:sp>
        <p:nvSpPr>
          <p:cNvPr id="34" name="Text 30"/>
          <p:cNvSpPr/>
          <p:nvPr/>
        </p:nvSpPr>
        <p:spPr>
          <a:xfrm>
            <a:off x="12305854" y="6737449"/>
            <a:ext cx="5295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file generation</a:t>
            </a:r>
            <a:endParaRPr lang="en-US" sz="1875" dirty="0"/>
          </a:p>
        </p:txBody>
      </p:sp>
      <p:sp>
        <p:nvSpPr>
          <p:cNvPr id="35" name="Text 31"/>
          <p:cNvSpPr/>
          <p:nvPr/>
        </p:nvSpPr>
        <p:spPr>
          <a:xfrm>
            <a:off x="12305854" y="7132681"/>
            <a:ext cx="5295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tracking</a:t>
            </a:r>
            <a:endParaRPr lang="en-US" sz="1875" dirty="0"/>
          </a:p>
        </p:txBody>
      </p:sp>
      <p:sp>
        <p:nvSpPr>
          <p:cNvPr id="36" name="Text 32"/>
          <p:cNvSpPr/>
          <p:nvPr/>
        </p:nvSpPr>
        <p:spPr>
          <a:xfrm>
            <a:off x="12305854" y="7527913"/>
            <a:ext cx="5295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and failure handling</a:t>
            </a:r>
            <a:endParaRPr lang="en-US" sz="1875" dirty="0"/>
          </a:p>
        </p:txBody>
      </p:sp>
      <p:sp>
        <p:nvSpPr>
          <p:cNvPr id="37" name="Text 33"/>
          <p:cNvSpPr/>
          <p:nvPr/>
        </p:nvSpPr>
        <p:spPr>
          <a:xfrm>
            <a:off x="12305854" y="7923144"/>
            <a:ext cx="5295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support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63" y="704794"/>
            <a:ext cx="181052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&amp; Reporting Advantages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914363" y="1514419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914363" y="2371576"/>
            <a:ext cx="5257819" cy="4629857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0316" y="2377529"/>
            <a:ext cx="5245912" cy="894085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6" name="Text 4"/>
          <p:cNvSpPr/>
          <p:nvPr/>
        </p:nvSpPr>
        <p:spPr>
          <a:xfrm>
            <a:off x="1206066" y="2625179"/>
            <a:ext cx="4831790" cy="436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Source-to-Metering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1282247" y="3804977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published vs received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82247" y="4450705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event detection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82247" y="5096433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event detection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82247" y="5742161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Source-level control totals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515044" y="2371576"/>
            <a:ext cx="5257819" cy="4629857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20997" y="2377529"/>
            <a:ext cx="5245912" cy="894085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13" name="Text 11"/>
          <p:cNvSpPr/>
          <p:nvPr/>
        </p:nvSpPr>
        <p:spPr>
          <a:xfrm>
            <a:off x="6806747" y="2625179"/>
            <a:ext cx="4831790" cy="436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Metering-to-Billing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6882929" y="3804977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Processed usage vs billing export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882929" y="4450705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acknowledgement tracking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882929" y="5096433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exception visibility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882929" y="5742161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Replay-backed correction process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2115726" y="2371576"/>
            <a:ext cx="5257819" cy="4629857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21679" y="2377529"/>
            <a:ext cx="5245912" cy="894085"/>
          </a:xfrm>
          <a:prstGeom prst="rect">
            <a:avLst/>
          </a:prstGeom>
          <a:solidFill>
            <a:srgbClr val="1F6135"/>
          </a:solidFill>
          <a:ln/>
        </p:spPr>
      </p:sp>
      <p:sp>
        <p:nvSpPr>
          <p:cNvPr id="20" name="Text 18"/>
          <p:cNvSpPr/>
          <p:nvPr/>
        </p:nvSpPr>
        <p:spPr>
          <a:xfrm>
            <a:off x="12407429" y="2625179"/>
            <a:ext cx="4831790" cy="436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Governance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12483610" y="3804977"/>
            <a:ext cx="4657711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reporting by source, app and provider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483610" y="4810683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 event lifecycle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2483610" y="5456411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 investigation support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483610" y="6102139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Chargeback / showback readiness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14363" y="7706227"/>
            <a:ext cx="16459274" cy="810741"/>
          </a:xfrm>
          <a:prstGeom prst="roundRect">
            <a:avLst>
              <a:gd name="adj" fmla="val 11749"/>
            </a:avLst>
          </a:prstGeom>
          <a:solidFill>
            <a:srgbClr val="F5E9C8"/>
          </a:solidFill>
          <a:ln w="5953">
            <a:solidFill>
              <a:srgbClr val="DFC9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121" y="7959793"/>
            <a:ext cx="17379758" cy="341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D3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Advantage: billing outputs become transparent, traceable and reconcilable end to end.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63" y="704794"/>
            <a:ext cx="181052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&amp; Analytics Capability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914363" y="1514419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914363" y="1781008"/>
            <a:ext cx="13735050" cy="8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96"/>
              </a:lnSpc>
              <a:buNone/>
            </a:pPr>
            <a:r>
              <a:rPr lang="en-US" sz="21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data is stored as Parquet on object storage, so it can be queried directly with SQL — no data movement, no separate warehouse.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14363" y="3297473"/>
            <a:ext cx="8058206" cy="1938114"/>
          </a:xfrm>
          <a:prstGeom prst="roundRect">
            <a:avLst>
              <a:gd name="adj" fmla="val 589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363" y="5229634"/>
            <a:ext cx="8058206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7" name="Shape 5"/>
          <p:cNvSpPr/>
          <p:nvPr/>
        </p:nvSpPr>
        <p:spPr>
          <a:xfrm>
            <a:off x="914363" y="3297473"/>
            <a:ext cx="8058206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8" name="Shape 6"/>
          <p:cNvSpPr/>
          <p:nvPr/>
        </p:nvSpPr>
        <p:spPr>
          <a:xfrm>
            <a:off x="914363" y="3297473"/>
            <a:ext cx="47625" cy="1938114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9" name="Shape 7"/>
          <p:cNvSpPr/>
          <p:nvPr/>
        </p:nvSpPr>
        <p:spPr>
          <a:xfrm>
            <a:off x="8966615" y="3297473"/>
            <a:ext cx="9525" cy="1938114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10" name="Text 8"/>
          <p:cNvSpPr/>
          <p:nvPr/>
        </p:nvSpPr>
        <p:spPr>
          <a:xfrm>
            <a:off x="1323919" y="3703402"/>
            <a:ext cx="800884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answers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323919" y="4139096"/>
            <a:ext cx="7499188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and finance teams query usage directly by aggregator, product, cluster or period.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315431" y="3297473"/>
            <a:ext cx="8058206" cy="1938114"/>
          </a:xfrm>
          <a:prstGeom prst="roundRect">
            <a:avLst>
              <a:gd name="adj" fmla="val 589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9315431" y="5229634"/>
            <a:ext cx="8058206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31" y="3297473"/>
            <a:ext cx="8058206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15" name="Shape 13"/>
          <p:cNvSpPr/>
          <p:nvPr/>
        </p:nvSpPr>
        <p:spPr>
          <a:xfrm>
            <a:off x="9315431" y="3297473"/>
            <a:ext cx="47625" cy="1938114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16" name="Shape 14"/>
          <p:cNvSpPr/>
          <p:nvPr/>
        </p:nvSpPr>
        <p:spPr>
          <a:xfrm>
            <a:off x="17367684" y="3297473"/>
            <a:ext cx="9525" cy="1938114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17" name="Text 15"/>
          <p:cNvSpPr/>
          <p:nvPr/>
        </p:nvSpPr>
        <p:spPr>
          <a:xfrm>
            <a:off x="9724988" y="3703402"/>
            <a:ext cx="800884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dispute resolution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9724988" y="4139096"/>
            <a:ext cx="8008841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any billed amount back to the underlying events in minutes.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914363" y="5578450"/>
            <a:ext cx="8058206" cy="1938114"/>
          </a:xfrm>
          <a:prstGeom prst="roundRect">
            <a:avLst>
              <a:gd name="adj" fmla="val 5897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363" y="7510611"/>
            <a:ext cx="8058206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363" y="5578450"/>
            <a:ext cx="8058206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363" y="5578450"/>
            <a:ext cx="47625" cy="1938114"/>
          </a:xfrm>
          <a:prstGeom prst="rect">
            <a:avLst/>
          </a:prstGeom>
          <a:solidFill>
            <a:srgbClr val="1F6135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6615" y="5578450"/>
            <a:ext cx="9525" cy="1938114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4" name="Text 22"/>
          <p:cNvSpPr/>
          <p:nvPr/>
        </p:nvSpPr>
        <p:spPr>
          <a:xfrm>
            <a:off x="1323919" y="5984379"/>
            <a:ext cx="800884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duplicate data platform</a:t>
            </a:r>
            <a:endParaRPr lang="en-US" sz="2175" dirty="0"/>
          </a:p>
        </p:txBody>
      </p:sp>
      <p:sp>
        <p:nvSpPr>
          <p:cNvPr id="25" name="Text 23"/>
          <p:cNvSpPr/>
          <p:nvPr/>
        </p:nvSpPr>
        <p:spPr>
          <a:xfrm>
            <a:off x="1323919" y="6420073"/>
            <a:ext cx="7499188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Columnar storage is the analytics layer — avoids a second copy and its cost.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9315431" y="5578450"/>
            <a:ext cx="8058206" cy="1938114"/>
          </a:xfrm>
          <a:prstGeom prst="roundRect">
            <a:avLst>
              <a:gd name="adj" fmla="val 5897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9315431" y="7510611"/>
            <a:ext cx="8058206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8" name="Shape 26"/>
          <p:cNvSpPr/>
          <p:nvPr/>
        </p:nvSpPr>
        <p:spPr>
          <a:xfrm>
            <a:off x="9315431" y="5578450"/>
            <a:ext cx="8058206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9" name="Shape 27"/>
          <p:cNvSpPr/>
          <p:nvPr/>
        </p:nvSpPr>
        <p:spPr>
          <a:xfrm>
            <a:off x="9315431" y="5578450"/>
            <a:ext cx="47625" cy="193811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0" name="Shape 28"/>
          <p:cNvSpPr/>
          <p:nvPr/>
        </p:nvSpPr>
        <p:spPr>
          <a:xfrm>
            <a:off x="17367684" y="5578450"/>
            <a:ext cx="9525" cy="1938114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31" name="Text 29"/>
          <p:cNvSpPr/>
          <p:nvPr/>
        </p:nvSpPr>
        <p:spPr>
          <a:xfrm>
            <a:off x="9724988" y="5984379"/>
            <a:ext cx="800884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insight</a:t>
            </a:r>
            <a:endParaRPr lang="en-US" sz="2175" dirty="0"/>
          </a:p>
        </p:txBody>
      </p:sp>
      <p:sp>
        <p:nvSpPr>
          <p:cNvPr id="32" name="Text 30"/>
          <p:cNvSpPr/>
          <p:nvPr/>
        </p:nvSpPr>
        <p:spPr>
          <a:xfrm>
            <a:off x="9724988" y="6420073"/>
            <a:ext cx="7499188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usage trends, under-billing and growth opportunities across aggregators.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914363" y="8088064"/>
            <a:ext cx="16459274" cy="810741"/>
          </a:xfrm>
          <a:prstGeom prst="roundRect">
            <a:avLst>
              <a:gd name="adj" fmla="val 11749"/>
            </a:avLst>
          </a:prstGeom>
          <a:solidFill>
            <a:srgbClr val="F5E9C8"/>
          </a:solidFill>
          <a:ln w="5953">
            <a:solidFill>
              <a:srgbClr val="DFC97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4121" y="8341630"/>
            <a:ext cx="17379758" cy="341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D3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billing system is also the usage intelligence system.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647681"/>
            <a:ext cx="182308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Insights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857250" y="1457306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1685758"/>
            <a:ext cx="15716250" cy="411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80"/>
              </a:lnSpc>
              <a:buNone/>
            </a:pPr>
            <a:r>
              <a:rPr lang="en-US" sz="2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Querying the Parquet layer directly answers the questions leadership actually asks. Illustrative views below.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57250" y="2554263"/>
            <a:ext cx="5334000" cy="4588650"/>
          </a:xfrm>
          <a:prstGeom prst="roundRect">
            <a:avLst>
              <a:gd name="adj" fmla="val 2491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3203" y="2560216"/>
            <a:ext cx="5322094" cy="744141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7" name="Text 5"/>
          <p:cNvSpPr/>
          <p:nvPr/>
        </p:nvSpPr>
        <p:spPr>
          <a:xfrm>
            <a:off x="1110853" y="2750716"/>
            <a:ext cx="4986457" cy="401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Volume by Aggregator</a:t>
            </a:r>
            <a:endParaRPr lang="en-US" sz="2025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816" y="3551969"/>
            <a:ext cx="4826868" cy="287312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0816" y="6617922"/>
            <a:ext cx="530955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Billable event counts per aggregator</a:t>
            </a:r>
            <a:endParaRPr lang="en-US" sz="1875" dirty="0"/>
          </a:p>
        </p:txBody>
      </p:sp>
      <p:sp>
        <p:nvSpPr>
          <p:cNvPr id="10" name="Shape 7"/>
          <p:cNvSpPr/>
          <p:nvPr/>
        </p:nvSpPr>
        <p:spPr>
          <a:xfrm>
            <a:off x="6477000" y="2554263"/>
            <a:ext cx="5334000" cy="4588650"/>
          </a:xfrm>
          <a:prstGeom prst="roundRect">
            <a:avLst>
              <a:gd name="adj" fmla="val 2491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82953" y="2560216"/>
            <a:ext cx="5322094" cy="744141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12" name="Text 9"/>
          <p:cNvSpPr/>
          <p:nvPr/>
        </p:nvSpPr>
        <p:spPr>
          <a:xfrm>
            <a:off x="6730603" y="2750716"/>
            <a:ext cx="4986457" cy="401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Aggregator</a:t>
            </a:r>
            <a:endParaRPr lang="en-US" sz="202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0566" y="3551969"/>
            <a:ext cx="4826868" cy="287312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30566" y="6617922"/>
            <a:ext cx="530955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aggregator and recipient drive revenue</a:t>
            </a:r>
            <a:endParaRPr lang="en-US" sz="1875" dirty="0"/>
          </a:p>
        </p:txBody>
      </p:sp>
      <p:sp>
        <p:nvSpPr>
          <p:cNvPr id="15" name="Shape 11"/>
          <p:cNvSpPr/>
          <p:nvPr/>
        </p:nvSpPr>
        <p:spPr>
          <a:xfrm>
            <a:off x="12096750" y="2554263"/>
            <a:ext cx="5334000" cy="4588650"/>
          </a:xfrm>
          <a:prstGeom prst="roundRect">
            <a:avLst>
              <a:gd name="adj" fmla="val 2491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2102703" y="2560216"/>
            <a:ext cx="5322094" cy="744141"/>
          </a:xfrm>
          <a:prstGeom prst="rect">
            <a:avLst/>
          </a:prstGeom>
          <a:solidFill>
            <a:srgbClr val="1F6135"/>
          </a:solidFill>
          <a:ln/>
        </p:spPr>
      </p:sp>
      <p:sp>
        <p:nvSpPr>
          <p:cNvPr id="17" name="Text 13"/>
          <p:cNvSpPr/>
          <p:nvPr/>
        </p:nvSpPr>
        <p:spPr>
          <a:xfrm>
            <a:off x="12350353" y="2750716"/>
            <a:ext cx="4986457" cy="401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API</a:t>
            </a:r>
            <a:endParaRPr lang="en-US" sz="2025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50316" y="3551969"/>
            <a:ext cx="4826868" cy="28731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50316" y="6617922"/>
            <a:ext cx="530955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Highest-earning APIs and products</a:t>
            </a:r>
            <a:endParaRPr lang="en-US" sz="1875" dirty="0"/>
          </a:p>
        </p:txBody>
      </p:sp>
      <p:sp>
        <p:nvSpPr>
          <p:cNvPr id="20" name="Shape 15"/>
          <p:cNvSpPr/>
          <p:nvPr/>
        </p:nvSpPr>
        <p:spPr>
          <a:xfrm>
            <a:off x="857250" y="7581026"/>
            <a:ext cx="16573500" cy="772604"/>
          </a:xfrm>
          <a:prstGeom prst="roundRect">
            <a:avLst>
              <a:gd name="adj" fmla="val 12328"/>
            </a:avLst>
          </a:prstGeom>
          <a:solidFill>
            <a:srgbClr val="F5E9C8"/>
          </a:solidFill>
          <a:ln w="5953">
            <a:solidFill>
              <a:srgbClr val="DFC97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91297" y="7815523"/>
            <a:ext cx="17505406" cy="341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D3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views · generated directly from the S3 Parquet layer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044" y="590476"/>
            <a:ext cx="1835670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&amp; Enterprise Value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800044" y="1381032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00044" y="1590508"/>
            <a:ext cx="15716250" cy="411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80"/>
              </a:lnSpc>
              <a:buNone/>
            </a:pPr>
            <a:r>
              <a:rPr lang="en-US" sz="2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staged path from today's billing pipeline to an enterprise monetization platform.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00044" y="2325719"/>
            <a:ext cx="5308606" cy="634566"/>
          </a:xfrm>
          <a:custGeom>
            <a:avLst/>
            <a:gdLst/>
            <a:ahLst/>
            <a:cxnLst/>
            <a:rect l="l" t="t" r="r" b="b"/>
            <a:pathLst>
              <a:path w="5308606" h="634566">
                <a:moveTo>
                  <a:pt x="114300" y="0"/>
                </a:moveTo>
                <a:lnTo>
                  <a:pt x="5308606" y="0"/>
                </a:lnTo>
                <a:lnTo>
                  <a:pt x="5308606" y="634566"/>
                </a:lnTo>
                <a:lnTo>
                  <a:pt x="114300" y="634566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0F2044"/>
          </a:solidFill>
          <a:ln/>
        </p:spPr>
      </p:sp>
      <p:sp>
        <p:nvSpPr>
          <p:cNvPr id="6" name="Text 4"/>
          <p:cNvSpPr/>
          <p:nvPr/>
        </p:nvSpPr>
        <p:spPr>
          <a:xfrm>
            <a:off x="968065" y="2497169"/>
            <a:ext cx="4972564" cy="329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 · Near term</a:t>
            </a:r>
            <a:endParaRPr lang="en-US" sz="202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08650" y="2528683"/>
            <a:ext cx="381000" cy="2285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89650" y="2325719"/>
            <a:ext cx="5308699" cy="634566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9" name="Text 6"/>
          <p:cNvSpPr/>
          <p:nvPr/>
        </p:nvSpPr>
        <p:spPr>
          <a:xfrm>
            <a:off x="6657670" y="2497169"/>
            <a:ext cx="4972660" cy="329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 · Mid term</a:t>
            </a:r>
            <a:endParaRPr lang="en-US" sz="2025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8350" y="2528683"/>
            <a:ext cx="381000" cy="2285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2179350" y="2325719"/>
            <a:ext cx="5308606" cy="634566"/>
          </a:xfrm>
          <a:custGeom>
            <a:avLst/>
            <a:gdLst/>
            <a:ahLst/>
            <a:cxnLst/>
            <a:rect l="l" t="t" r="r" b="b"/>
            <a:pathLst>
              <a:path w="5308606" h="634566">
                <a:moveTo>
                  <a:pt x="0" y="0"/>
                </a:moveTo>
                <a:lnTo>
                  <a:pt x="5194306" y="0"/>
                </a:lnTo>
                <a:arcTo hR="114300" wR="114300" stAng="16200000" swAng="5400000"/>
                <a:lnTo>
                  <a:pt x="5308606" y="520266"/>
                </a:lnTo>
                <a:arcTo hR="114300" wR="114300" stAng="0" swAng="5400000"/>
                <a:lnTo>
                  <a:pt x="0" y="634566"/>
                </a:lnTo>
                <a:lnTo>
                  <a:pt x="0" y="0"/>
                </a:lnTo>
                <a:close/>
              </a:path>
            </a:pathLst>
          </a:custGeom>
          <a:solidFill>
            <a:srgbClr val="1F6135"/>
          </a:solidFill>
          <a:ln/>
        </p:spPr>
      </p:sp>
      <p:sp>
        <p:nvSpPr>
          <p:cNvPr id="12" name="Text 8"/>
          <p:cNvSpPr/>
          <p:nvPr/>
        </p:nvSpPr>
        <p:spPr>
          <a:xfrm>
            <a:off x="12347371" y="2497169"/>
            <a:ext cx="4972564" cy="329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 · Long term</a:t>
            </a:r>
            <a:endParaRPr lang="en-US" sz="2025" dirty="0"/>
          </a:p>
        </p:txBody>
      </p:sp>
      <p:sp>
        <p:nvSpPr>
          <p:cNvPr id="13" name="Shape 9"/>
          <p:cNvSpPr/>
          <p:nvPr/>
        </p:nvSpPr>
        <p:spPr>
          <a:xfrm>
            <a:off x="800044" y="3207897"/>
            <a:ext cx="5384788" cy="2546542"/>
          </a:xfrm>
          <a:custGeom>
            <a:avLst/>
            <a:gdLst/>
            <a:ahLst/>
            <a:cxnLst/>
            <a:rect l="l" t="t" r="r" b="b"/>
            <a:pathLst>
              <a:path w="5384788" h="2546542">
                <a:moveTo>
                  <a:pt x="0" y="0"/>
                </a:moveTo>
                <a:lnTo>
                  <a:pt x="5384788" y="0"/>
                </a:lnTo>
                <a:lnTo>
                  <a:pt x="5384788" y="2432242"/>
                </a:lnTo>
                <a:arcTo hR="114300" wR="114300" stAng="0" swAng="5400000"/>
                <a:lnTo>
                  <a:pt x="114300" y="2546542"/>
                </a:lnTo>
                <a:arcTo hR="114300" wR="114300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800044" y="5748486"/>
            <a:ext cx="5384788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15" name="Shape 11"/>
          <p:cNvSpPr/>
          <p:nvPr/>
        </p:nvSpPr>
        <p:spPr>
          <a:xfrm>
            <a:off x="800044" y="3207897"/>
            <a:ext cx="5384788" cy="47625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6" name="Shape 12"/>
          <p:cNvSpPr/>
          <p:nvPr/>
        </p:nvSpPr>
        <p:spPr>
          <a:xfrm>
            <a:off x="800044" y="3207897"/>
            <a:ext cx="9525" cy="2546542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17" name="Shape 13"/>
          <p:cNvSpPr/>
          <p:nvPr/>
        </p:nvSpPr>
        <p:spPr>
          <a:xfrm>
            <a:off x="6178879" y="3207897"/>
            <a:ext cx="9525" cy="2546542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18" name="Text 14"/>
          <p:cNvSpPr/>
          <p:nvPr/>
        </p:nvSpPr>
        <p:spPr>
          <a:xfrm>
            <a:off x="1072679" y="3522204"/>
            <a:ext cx="53234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additional enterprise source systems</a:t>
            </a:r>
            <a:endParaRPr lang="en-US" sz="1875" dirty="0"/>
          </a:p>
        </p:txBody>
      </p:sp>
      <p:sp>
        <p:nvSpPr>
          <p:cNvPr id="19" name="Text 15"/>
          <p:cNvSpPr/>
          <p:nvPr/>
        </p:nvSpPr>
        <p:spPr>
          <a:xfrm>
            <a:off x="1072679" y="3965060"/>
            <a:ext cx="4984704" cy="669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invoice adjustments </a:t>
            </a:r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credits, re-rates and corrections applied on demand</a:t>
            </a:r>
            <a:endParaRPr lang="en-US" sz="1875" dirty="0"/>
          </a:p>
        </p:txBody>
      </p:sp>
      <p:sp>
        <p:nvSpPr>
          <p:cNvPr id="20" name="Text 16"/>
          <p:cNvSpPr/>
          <p:nvPr/>
        </p:nvSpPr>
        <p:spPr>
          <a:xfrm>
            <a:off x="1072679" y="4729386"/>
            <a:ext cx="53234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dashboards for operations</a:t>
            </a:r>
            <a:endParaRPr lang="en-US" sz="1875" dirty="0"/>
          </a:p>
        </p:txBody>
      </p:sp>
      <p:sp>
        <p:nvSpPr>
          <p:cNvPr id="21" name="Text 17"/>
          <p:cNvSpPr/>
          <p:nvPr/>
        </p:nvSpPr>
        <p:spPr>
          <a:xfrm>
            <a:off x="1072679" y="5172242"/>
            <a:ext cx="53234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reconciliation reporting</a:t>
            </a:r>
            <a:endParaRPr lang="en-US" sz="1875" dirty="0"/>
          </a:p>
        </p:txBody>
      </p:sp>
      <p:sp>
        <p:nvSpPr>
          <p:cNvPr id="22" name="Shape 18"/>
          <p:cNvSpPr/>
          <p:nvPr/>
        </p:nvSpPr>
        <p:spPr>
          <a:xfrm>
            <a:off x="6451513" y="3207897"/>
            <a:ext cx="5384881" cy="2546542"/>
          </a:xfrm>
          <a:custGeom>
            <a:avLst/>
            <a:gdLst/>
            <a:ahLst/>
            <a:cxnLst/>
            <a:rect l="l" t="t" r="r" b="b"/>
            <a:pathLst>
              <a:path w="5384881" h="2546542">
                <a:moveTo>
                  <a:pt x="0" y="0"/>
                </a:moveTo>
                <a:lnTo>
                  <a:pt x="5384881" y="0"/>
                </a:lnTo>
                <a:lnTo>
                  <a:pt x="5384881" y="2432242"/>
                </a:lnTo>
                <a:arcTo hR="114300" wR="114300" stAng="0" swAng="5400000"/>
                <a:lnTo>
                  <a:pt x="114300" y="2546542"/>
                </a:lnTo>
                <a:arcTo hR="114300" wR="114300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Shape 19"/>
          <p:cNvSpPr/>
          <p:nvPr/>
        </p:nvSpPr>
        <p:spPr>
          <a:xfrm>
            <a:off x="6451513" y="5748486"/>
            <a:ext cx="5384881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4" name="Shape 20"/>
          <p:cNvSpPr/>
          <p:nvPr/>
        </p:nvSpPr>
        <p:spPr>
          <a:xfrm>
            <a:off x="6451513" y="3207897"/>
            <a:ext cx="5384881" cy="47625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25" name="Shape 21"/>
          <p:cNvSpPr/>
          <p:nvPr/>
        </p:nvSpPr>
        <p:spPr>
          <a:xfrm>
            <a:off x="6451513" y="3207897"/>
            <a:ext cx="9525" cy="2546542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6" name="Shape 22"/>
          <p:cNvSpPr/>
          <p:nvPr/>
        </p:nvSpPr>
        <p:spPr>
          <a:xfrm>
            <a:off x="11830441" y="3207897"/>
            <a:ext cx="9525" cy="2546542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7" name="Text 23"/>
          <p:cNvSpPr/>
          <p:nvPr/>
        </p:nvSpPr>
        <p:spPr>
          <a:xfrm>
            <a:off x="6724148" y="3522204"/>
            <a:ext cx="53235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billing providers via adapters</a:t>
            </a:r>
            <a:endParaRPr lang="en-US" sz="1875" dirty="0"/>
          </a:p>
        </p:txBody>
      </p:sp>
      <p:sp>
        <p:nvSpPr>
          <p:cNvPr id="28" name="Text 24"/>
          <p:cNvSpPr/>
          <p:nvPr/>
        </p:nvSpPr>
        <p:spPr>
          <a:xfrm>
            <a:off x="6724148" y="3965060"/>
            <a:ext cx="53235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Usage-based and tiered pricing models</a:t>
            </a:r>
            <a:endParaRPr lang="en-US" sz="1875" dirty="0"/>
          </a:p>
        </p:txBody>
      </p:sp>
      <p:sp>
        <p:nvSpPr>
          <p:cNvPr id="29" name="Text 25"/>
          <p:cNvSpPr/>
          <p:nvPr/>
        </p:nvSpPr>
        <p:spPr>
          <a:xfrm>
            <a:off x="6724148" y="4407917"/>
            <a:ext cx="53235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Chargeback / showback for internal consumers</a:t>
            </a:r>
            <a:endParaRPr lang="en-US" sz="1875" dirty="0"/>
          </a:p>
        </p:txBody>
      </p:sp>
      <p:sp>
        <p:nvSpPr>
          <p:cNvPr id="30" name="Text 26"/>
          <p:cNvSpPr/>
          <p:nvPr/>
        </p:nvSpPr>
        <p:spPr>
          <a:xfrm>
            <a:off x="6724148" y="4850774"/>
            <a:ext cx="53235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analytics on the Parquet layer</a:t>
            </a:r>
            <a:endParaRPr lang="en-US" sz="1875" dirty="0"/>
          </a:p>
        </p:txBody>
      </p:sp>
      <p:sp>
        <p:nvSpPr>
          <p:cNvPr id="31" name="Shape 27"/>
          <p:cNvSpPr/>
          <p:nvPr/>
        </p:nvSpPr>
        <p:spPr>
          <a:xfrm>
            <a:off x="12103075" y="3207897"/>
            <a:ext cx="5384881" cy="2546542"/>
          </a:xfrm>
          <a:custGeom>
            <a:avLst/>
            <a:gdLst/>
            <a:ahLst/>
            <a:cxnLst/>
            <a:rect l="l" t="t" r="r" b="b"/>
            <a:pathLst>
              <a:path w="5384881" h="2546542">
                <a:moveTo>
                  <a:pt x="0" y="0"/>
                </a:moveTo>
                <a:lnTo>
                  <a:pt x="5384881" y="0"/>
                </a:lnTo>
                <a:lnTo>
                  <a:pt x="5384881" y="2432242"/>
                </a:lnTo>
                <a:arcTo hR="114300" wR="114300" stAng="0" swAng="5400000"/>
                <a:lnTo>
                  <a:pt x="114300" y="2546542"/>
                </a:lnTo>
                <a:arcTo hR="114300" wR="114300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Shape 28"/>
          <p:cNvSpPr/>
          <p:nvPr/>
        </p:nvSpPr>
        <p:spPr>
          <a:xfrm>
            <a:off x="12103075" y="5748486"/>
            <a:ext cx="5384881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33" name="Shape 29"/>
          <p:cNvSpPr/>
          <p:nvPr/>
        </p:nvSpPr>
        <p:spPr>
          <a:xfrm>
            <a:off x="12103075" y="3207897"/>
            <a:ext cx="5384881" cy="47625"/>
          </a:xfrm>
          <a:prstGeom prst="rect">
            <a:avLst/>
          </a:prstGeom>
          <a:solidFill>
            <a:srgbClr val="1F6135"/>
          </a:solidFill>
          <a:ln/>
        </p:spPr>
      </p:sp>
      <p:sp>
        <p:nvSpPr>
          <p:cNvPr id="34" name="Shape 30"/>
          <p:cNvSpPr/>
          <p:nvPr/>
        </p:nvSpPr>
        <p:spPr>
          <a:xfrm>
            <a:off x="12103075" y="3207897"/>
            <a:ext cx="9525" cy="2546542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35" name="Shape 31"/>
          <p:cNvSpPr/>
          <p:nvPr/>
        </p:nvSpPr>
        <p:spPr>
          <a:xfrm>
            <a:off x="17482003" y="3207897"/>
            <a:ext cx="9525" cy="2546542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36" name="Text 32"/>
          <p:cNvSpPr/>
          <p:nvPr/>
        </p:nvSpPr>
        <p:spPr>
          <a:xfrm>
            <a:off x="12375710" y="3522204"/>
            <a:ext cx="53235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enterprise monetization platform</a:t>
            </a:r>
            <a:endParaRPr lang="en-US" sz="1875" dirty="0"/>
          </a:p>
        </p:txBody>
      </p:sp>
      <p:sp>
        <p:nvSpPr>
          <p:cNvPr id="37" name="Text 33"/>
          <p:cNvSpPr/>
          <p:nvPr/>
        </p:nvSpPr>
        <p:spPr>
          <a:xfrm>
            <a:off x="12375710" y="3965060"/>
            <a:ext cx="53235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Centralised usage governance &amp; policy</a:t>
            </a:r>
            <a:endParaRPr lang="en-US" sz="1875" dirty="0"/>
          </a:p>
        </p:txBody>
      </p:sp>
      <p:sp>
        <p:nvSpPr>
          <p:cNvPr id="38" name="Text 34"/>
          <p:cNvSpPr/>
          <p:nvPr/>
        </p:nvSpPr>
        <p:spPr>
          <a:xfrm>
            <a:off x="12375710" y="4407917"/>
            <a:ext cx="53235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 and revenue insight</a:t>
            </a:r>
            <a:endParaRPr lang="en-US" sz="1875" dirty="0"/>
          </a:p>
        </p:txBody>
      </p:sp>
      <p:sp>
        <p:nvSpPr>
          <p:cNvPr id="39" name="Text 35"/>
          <p:cNvSpPr/>
          <p:nvPr/>
        </p:nvSpPr>
        <p:spPr>
          <a:xfrm>
            <a:off x="12375710" y="4850774"/>
            <a:ext cx="53235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Partner-facing usage transparency</a:t>
            </a:r>
            <a:endParaRPr lang="en-US" sz="1875" dirty="0"/>
          </a:p>
        </p:txBody>
      </p:sp>
      <p:sp>
        <p:nvSpPr>
          <p:cNvPr id="40" name="Shape 36"/>
          <p:cNvSpPr/>
          <p:nvPr/>
        </p:nvSpPr>
        <p:spPr>
          <a:xfrm>
            <a:off x="800044" y="6078234"/>
            <a:ext cx="9628622" cy="2210005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</p:spPr>
      </p:sp>
      <p:sp>
        <p:nvSpPr>
          <p:cNvPr id="41" name="Shape 37"/>
          <p:cNvSpPr/>
          <p:nvPr/>
        </p:nvSpPr>
        <p:spPr>
          <a:xfrm>
            <a:off x="800044" y="8282285"/>
            <a:ext cx="9628622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42" name="Shape 38"/>
          <p:cNvSpPr/>
          <p:nvPr/>
        </p:nvSpPr>
        <p:spPr>
          <a:xfrm>
            <a:off x="800044" y="6078234"/>
            <a:ext cx="9628622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43" name="Shape 39"/>
          <p:cNvSpPr/>
          <p:nvPr/>
        </p:nvSpPr>
        <p:spPr>
          <a:xfrm>
            <a:off x="800044" y="6078234"/>
            <a:ext cx="47625" cy="221000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4" name="Shape 40"/>
          <p:cNvSpPr/>
          <p:nvPr/>
        </p:nvSpPr>
        <p:spPr>
          <a:xfrm>
            <a:off x="10422713" y="6078234"/>
            <a:ext cx="9525" cy="221000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45" name="Text 41"/>
          <p:cNvSpPr/>
          <p:nvPr/>
        </p:nvSpPr>
        <p:spPr>
          <a:xfrm>
            <a:off x="1152395" y="6369937"/>
            <a:ext cx="9862152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Invoice Adjustments</a:t>
            </a:r>
            <a:endParaRPr lang="en-US" sz="2325" dirty="0"/>
          </a:p>
        </p:txBody>
      </p:sp>
      <p:sp>
        <p:nvSpPr>
          <p:cNvPr id="46" name="Text 42"/>
          <p:cNvSpPr/>
          <p:nvPr/>
        </p:nvSpPr>
        <p:spPr>
          <a:xfrm>
            <a:off x="1152395" y="6829444"/>
            <a:ext cx="923456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every billed line traces back to its source events, corrections can be applied and re-issued quickly — credits, re-rates and disputed items resolved without a manual reconstruction exercise.</a:t>
            </a:r>
            <a:endParaRPr lang="en-US" sz="1875" dirty="0"/>
          </a:p>
        </p:txBody>
      </p:sp>
      <p:sp>
        <p:nvSpPr>
          <p:cNvPr id="47" name="Shape 43"/>
          <p:cNvSpPr/>
          <p:nvPr/>
        </p:nvSpPr>
        <p:spPr>
          <a:xfrm>
            <a:off x="10695347" y="6078234"/>
            <a:ext cx="6792609" cy="2210005"/>
          </a:xfrm>
          <a:prstGeom prst="roundRect">
            <a:avLst>
              <a:gd name="adj" fmla="val 5172"/>
            </a:avLst>
          </a:prstGeom>
          <a:solidFill>
            <a:srgbClr val="0F2044"/>
          </a:solidFill>
          <a:ln/>
        </p:spPr>
      </p:sp>
      <p:sp>
        <p:nvSpPr>
          <p:cNvPr id="48" name="Text 44"/>
          <p:cNvSpPr/>
          <p:nvPr/>
        </p:nvSpPr>
        <p:spPr>
          <a:xfrm>
            <a:off x="10690915" y="6363984"/>
            <a:ext cx="6801473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spc="75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VALUE</a:t>
            </a:r>
            <a:endParaRPr lang="en-US" sz="1875" dirty="0"/>
          </a:p>
        </p:txBody>
      </p:sp>
      <p:sp>
        <p:nvSpPr>
          <p:cNvPr id="49" name="Text 45"/>
          <p:cNvSpPr/>
          <p:nvPr/>
        </p:nvSpPr>
        <p:spPr>
          <a:xfrm>
            <a:off x="10907325" y="6836606"/>
            <a:ext cx="6368652" cy="1203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3619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once. Bill anything. Govern centrally.</a:t>
            </a:r>
            <a:endParaRPr lang="en-US" sz="2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63" y="704794"/>
            <a:ext cx="181052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914363" y="1514419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914363" y="2371576"/>
            <a:ext cx="5257819" cy="4629857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0316" y="2377529"/>
            <a:ext cx="5245912" cy="894085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6" name="Text 4"/>
          <p:cNvSpPr/>
          <p:nvPr/>
        </p:nvSpPr>
        <p:spPr>
          <a:xfrm>
            <a:off x="1206066" y="2625179"/>
            <a:ext cx="4831790" cy="436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Assurance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1282247" y="3804977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billable event captured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82247" y="4450705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revenue leakage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82247" y="5096433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double billing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82247" y="5742161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and reconciled end to end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515044" y="2371576"/>
            <a:ext cx="5257819" cy="4629857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20997" y="2377529"/>
            <a:ext cx="5245912" cy="894085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13" name="Text 11"/>
          <p:cNvSpPr/>
          <p:nvPr/>
        </p:nvSpPr>
        <p:spPr>
          <a:xfrm>
            <a:off x="6806747" y="2625179"/>
            <a:ext cx="4831790" cy="436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Avoidance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6882929" y="3804977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billing needs reuse this platform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882929" y="4450705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separate builds to fund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882929" y="5096433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cost across applications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882929" y="5742161"/>
            <a:ext cx="4657711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without a new data platform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2115726" y="2371576"/>
            <a:ext cx="5257819" cy="4629857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21679" y="2377529"/>
            <a:ext cx="5245912" cy="894085"/>
          </a:xfrm>
          <a:prstGeom prst="rect">
            <a:avLst/>
          </a:prstGeom>
          <a:solidFill>
            <a:srgbClr val="1F6135"/>
          </a:solidFill>
          <a:ln/>
        </p:spPr>
      </p:sp>
      <p:sp>
        <p:nvSpPr>
          <p:cNvPr id="20" name="Text 18"/>
          <p:cNvSpPr/>
          <p:nvPr/>
        </p:nvSpPr>
        <p:spPr>
          <a:xfrm>
            <a:off x="12407429" y="2625179"/>
            <a:ext cx="4831790" cy="436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Confidence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12483610" y="3804977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event lifecycle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483610" y="4450705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totals for reconciliation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2483610" y="5096433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 investigation support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483610" y="5742161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 by design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14363" y="7706227"/>
            <a:ext cx="16459274" cy="834554"/>
          </a:xfrm>
          <a:prstGeom prst="roundRect">
            <a:avLst>
              <a:gd name="adj" fmla="val 11413"/>
            </a:avLst>
          </a:prstGeom>
          <a:solidFill>
            <a:srgbClr val="F5E9C8"/>
          </a:solidFill>
          <a:ln w="5953">
            <a:solidFill>
              <a:srgbClr val="DFC9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121" y="7959793"/>
            <a:ext cx="17379758" cy="365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3D3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once. Bill anything. Govern centrally.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2026-08-31T09:29:50Z</dcterms:created>
  <dcterms:modified xsi:type="dcterms:W3CDTF">2026-08-31T09:29:50Z</dcterms:modified>
</cp:coreProperties>
</file>