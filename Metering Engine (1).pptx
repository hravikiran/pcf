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Metering Engine: the end-to-end pipeline that turns billable API events into aggregated, billable, reportable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pipeline, eight components. Events flow left to right; MongoDB fans out to monetization and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pipeline. Events enter via Apigee/ASDE to Kafka, are processed to Parquet on S3, aggregated to MongoDB, then fan out to monetization, billing, and analytics. Raw S3 archives to cold storage after 14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Apigee Gateway and ASDE identify billable activity and produce events onto a dedicated Kafka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Event Processor consumes JSON from Kafka, batches it into Parquet, and writes date-partitioned files to S3/HPOS.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scheduled batch job reads raw events from S3, enriches with pricing config, aggregates across dimensions, and writes results to MongoDB.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MongoDB stores only aggregated data — a much smaller footprint with fast query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Dashboards read aggregated data from MongoDB based on user filters and present it in multiple reporting formats.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S3 data is moved to cold storage after 14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Monetization Engine reads from MongoDB, applies billing and pricing rules, prepares billing records mapped to ACO requirements, and NDMs a file to the Billing System on a configurable cadence — monthly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gradFill rotWithShape="1">
            <a:gsLst>
              <a:gs pos="0">
                <a:srgbClr val="3D54D6">
                  <a:alpha val="18000"/>
                </a:srgbClr>
              </a:gs>
              <a:gs pos="100000">
                <a:srgbClr val="3D54D6">
                  <a:alpha val="0"/>
                </a:srgbClr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1047750"/>
            <a:ext cx="590101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20" kern="0" dirty="0">
                <a:solidFill>
                  <a:srgbClr val="8E9B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METERING &amp; MONETIZATION PLATFORM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3281958"/>
            <a:ext cx="16482060" cy="2427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600" b="1" spc="-192" kern="0" dirty="0">
                <a:solidFill>
                  <a:srgbClr val="F4F1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Metering Engine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143000" y="6014442"/>
            <a:ext cx="1059561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B7C0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 &amp; design of the end-to-end pipeline — from billable events to aggregation, monetization, and billing.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43000" y="9245600"/>
            <a:ext cx="419100" cy="19050"/>
          </a:xfrm>
          <a:prstGeom prst="rect">
            <a:avLst/>
          </a:prstGeom>
          <a:solidFill>
            <a:srgbClr val="3D54D6"/>
          </a:solidFill>
          <a:ln/>
        </p:spPr>
      </p:sp>
      <p:sp>
        <p:nvSpPr>
          <p:cNvPr id="7" name="Text 5"/>
          <p:cNvSpPr/>
          <p:nvPr/>
        </p:nvSpPr>
        <p:spPr>
          <a:xfrm>
            <a:off x="1695450" y="9137650"/>
            <a:ext cx="570403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7C8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Ingestion · Processing · Aggregation · Monetization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810512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24" kern="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OVERVIEW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14400" y="1193800"/>
            <a:ext cx="18105120" cy="67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72" kern="0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pipeline, end to end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056309"/>
            <a:ext cx="129501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Billable API events are captured at the edge, processed into columnar storage, aggregated on a schedule, and served to monetization, billing, and analytics from a lightweight store.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494584"/>
            <a:ext cx="3986213" cy="1732161"/>
          </a:xfrm>
          <a:prstGeom prst="roundRect">
            <a:avLst>
              <a:gd name="adj" fmla="val 8798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28575" dist="9525" dir="5400000">
              <a:srgbClr val="16243B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8400" y="3767634"/>
            <a:ext cx="382603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01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168400" y="4047034"/>
            <a:ext cx="38260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68400" y="4447084"/>
            <a:ext cx="3582559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Apigee Gateway &amp; ASDE produce billable events to Kafka.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5072063" y="3494584"/>
            <a:ext cx="3986213" cy="1732161"/>
          </a:xfrm>
          <a:prstGeom prst="roundRect">
            <a:avLst>
              <a:gd name="adj" fmla="val 8798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28575" dist="9525" dir="5400000">
              <a:srgbClr val="16243B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26063" y="3767634"/>
            <a:ext cx="382603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02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326063" y="4047034"/>
            <a:ext cx="38260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Processing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326063" y="4447084"/>
            <a:ext cx="3582559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 Processor batches JSON into Parquet on S3.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9229725" y="3494584"/>
            <a:ext cx="3986213" cy="1732161"/>
          </a:xfrm>
          <a:prstGeom prst="roundRect">
            <a:avLst>
              <a:gd name="adj" fmla="val 8798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28575" dist="9525" dir="5400000">
              <a:srgbClr val="16243B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83725" y="3767634"/>
            <a:ext cx="382603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03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483725" y="4047034"/>
            <a:ext cx="38260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Aggregation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483725" y="4447084"/>
            <a:ext cx="3582559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Scheduled jobs enrich, aggregate, and write to MongoDB.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3387388" y="3494584"/>
            <a:ext cx="3986213" cy="1732161"/>
          </a:xfrm>
          <a:prstGeom prst="roundRect">
            <a:avLst>
              <a:gd name="adj" fmla="val 8798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28575" dist="9525" dir="5400000">
              <a:srgbClr val="16243B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641388" y="3767634"/>
            <a:ext cx="382603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04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3641388" y="4047034"/>
            <a:ext cx="38260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Monetization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641388" y="4447084"/>
            <a:ext cx="3582559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Pricing &amp; billing rules feed the Billing System and dashboards.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14400" y="9544050"/>
            <a:ext cx="416797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A0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Metering Engine — Architecture &amp; Design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52450"/>
            <a:ext cx="269315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24" kern="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14400" y="838200"/>
            <a:ext cx="541359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61" kern="0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data flow</a:t>
            </a:r>
            <a:endParaRPr lang="en-US" sz="4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90900" y="4438650"/>
            <a:ext cx="255270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topic: wf.recipient .billable.events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095750" y="4705350"/>
            <a:ext cx="324911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raw S3 → cold storage after 14 months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887200" y="7677150"/>
            <a:ext cx="290445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NDM file · monthly (configurable)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14400" y="2428875"/>
            <a:ext cx="238125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57150" dist="19050" dir="5400000">
              <a:srgbClr val="16243B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30300" y="2644775"/>
            <a:ext cx="214439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INGESTION LAYER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1130300" y="2974975"/>
            <a:ext cx="1949450" cy="736600"/>
          </a:xfrm>
          <a:prstGeom prst="roundRect">
            <a:avLst>
              <a:gd name="adj" fmla="val 14224"/>
            </a:avLst>
          </a:prstGeom>
          <a:ln w="6350">
            <a:solidFill>
              <a:srgbClr val="ECE7D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3228975"/>
            <a:ext cx="214313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98613" y="3095625"/>
            <a:ext cx="141763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Apigee Gateway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130300" y="3825875"/>
            <a:ext cx="1949450" cy="488950"/>
          </a:xfrm>
          <a:prstGeom prst="roundRect">
            <a:avLst>
              <a:gd name="adj" fmla="val 21429"/>
            </a:avLst>
          </a:prstGeom>
          <a:ln w="6350">
            <a:solidFill>
              <a:srgbClr val="ECE7D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395605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12900" y="3946525"/>
            <a:ext cx="10539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ASDE / GW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1130300" y="4429125"/>
            <a:ext cx="1949450" cy="609600"/>
          </a:xfrm>
          <a:prstGeom prst="roundRect">
            <a:avLst>
              <a:gd name="adj" fmla="val 17188"/>
            </a:avLst>
          </a:prstGeom>
          <a:ln w="6350">
            <a:solidFill>
              <a:srgbClr val="C3C9D6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1270000" y="4619625"/>
            <a:ext cx="228600" cy="228600"/>
          </a:xfrm>
          <a:prstGeom prst="roundRect">
            <a:avLst>
              <a:gd name="adj" fmla="val 25000"/>
            </a:avLst>
          </a:prstGeom>
          <a:ln w="6350">
            <a:solidFill>
              <a:srgbClr val="9AA4D6"/>
            </a:solidFill>
            <a:prstDash val="dash"/>
          </a:ln>
        </p:spPr>
      </p:sp>
      <p:sp>
        <p:nvSpPr>
          <p:cNvPr id="18" name="Text 13"/>
          <p:cNvSpPr/>
          <p:nvPr/>
        </p:nvSpPr>
        <p:spPr>
          <a:xfrm>
            <a:off x="1276350" y="4625975"/>
            <a:ext cx="29210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D5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612900" y="4530725"/>
            <a:ext cx="140335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4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source systems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790950" y="2905125"/>
            <a:ext cx="17145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57150" dist="19050" dir="5400000">
              <a:srgbClr val="16243B">
                <a:alpha val="7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29125" y="3222625"/>
            <a:ext cx="438150" cy="4381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005957" y="3756025"/>
            <a:ext cx="1412825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Apache Kafka</a:t>
            </a:r>
            <a:endParaRPr lang="en-US" sz="1575" dirty="0"/>
          </a:p>
        </p:txBody>
      </p:sp>
      <p:sp>
        <p:nvSpPr>
          <p:cNvPr id="23" name="Shape 17"/>
          <p:cNvSpPr/>
          <p:nvPr/>
        </p:nvSpPr>
        <p:spPr>
          <a:xfrm>
            <a:off x="5981700" y="2905125"/>
            <a:ext cx="19050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57150" dist="19050" dir="5400000">
              <a:srgbClr val="16243B">
                <a:alpha val="7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6178550" y="3204865"/>
            <a:ext cx="1587500" cy="49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 Processor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6178550" y="3780135"/>
            <a:ext cx="15875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9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JSON → Parquet batches</a:t>
            </a:r>
            <a:endParaRPr lang="en-US" sz="1125" dirty="0"/>
          </a:p>
        </p:txBody>
      </p:sp>
      <p:sp>
        <p:nvSpPr>
          <p:cNvPr id="26" name="Shape 20"/>
          <p:cNvSpPr/>
          <p:nvPr/>
        </p:nvSpPr>
        <p:spPr>
          <a:xfrm>
            <a:off x="8362950" y="2905125"/>
            <a:ext cx="19050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57150" dist="19050" dir="5400000">
              <a:srgbClr val="16243B">
                <a:alpha val="7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59800" y="3101975"/>
            <a:ext cx="419100" cy="39181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559800" y="3608090"/>
            <a:ext cx="1662430" cy="268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/ HPOS</a:t>
            </a:r>
            <a:endParaRPr lang="en-US" sz="1650" dirty="0"/>
          </a:p>
        </p:txBody>
      </p:sp>
      <p:sp>
        <p:nvSpPr>
          <p:cNvPr id="29" name="Text 22"/>
          <p:cNvSpPr/>
          <p:nvPr/>
        </p:nvSpPr>
        <p:spPr>
          <a:xfrm>
            <a:off x="8559800" y="3952875"/>
            <a:ext cx="166243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9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Parquet · partitioned</a:t>
            </a:r>
            <a:endParaRPr lang="en-US" sz="1125" dirty="0"/>
          </a:p>
        </p:txBody>
      </p:sp>
      <p:sp>
        <p:nvSpPr>
          <p:cNvPr id="30" name="Shape 23"/>
          <p:cNvSpPr/>
          <p:nvPr/>
        </p:nvSpPr>
        <p:spPr>
          <a:xfrm>
            <a:off x="10744200" y="2905125"/>
            <a:ext cx="19050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57150" dist="19050" dir="5400000">
              <a:srgbClr val="16243B">
                <a:alpha val="7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41051" y="3101975"/>
            <a:ext cx="419100" cy="3918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941051" y="3608090"/>
            <a:ext cx="1662430" cy="268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Aggregation</a:t>
            </a:r>
            <a:endParaRPr lang="en-US" sz="1650" dirty="0"/>
          </a:p>
        </p:txBody>
      </p:sp>
      <p:sp>
        <p:nvSpPr>
          <p:cNvPr id="33" name="Text 25"/>
          <p:cNvSpPr/>
          <p:nvPr/>
        </p:nvSpPr>
        <p:spPr>
          <a:xfrm>
            <a:off x="10941051" y="3952875"/>
            <a:ext cx="166243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9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Scheduled batch job</a:t>
            </a:r>
            <a:endParaRPr lang="en-US" sz="1125" dirty="0"/>
          </a:p>
        </p:txBody>
      </p:sp>
      <p:sp>
        <p:nvSpPr>
          <p:cNvPr id="34" name="Shape 26"/>
          <p:cNvSpPr/>
          <p:nvPr/>
        </p:nvSpPr>
        <p:spPr>
          <a:xfrm>
            <a:off x="13125450" y="2905125"/>
            <a:ext cx="19050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57150" dist="19050" dir="5400000">
              <a:srgbClr val="16243B">
                <a:alpha val="7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322301" y="3101975"/>
            <a:ext cx="419100" cy="39181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3322301" y="3608090"/>
            <a:ext cx="1662430" cy="268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MongoDB</a:t>
            </a:r>
            <a:endParaRPr lang="en-US" sz="1650" dirty="0"/>
          </a:p>
        </p:txBody>
      </p:sp>
      <p:sp>
        <p:nvSpPr>
          <p:cNvPr id="37" name="Text 28"/>
          <p:cNvSpPr/>
          <p:nvPr/>
        </p:nvSpPr>
        <p:spPr>
          <a:xfrm>
            <a:off x="13322301" y="3952875"/>
            <a:ext cx="166243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9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Aggregated data store</a:t>
            </a:r>
            <a:endParaRPr lang="en-US" sz="1125" dirty="0"/>
          </a:p>
        </p:txBody>
      </p:sp>
      <p:sp>
        <p:nvSpPr>
          <p:cNvPr id="38" name="Shape 29"/>
          <p:cNvSpPr/>
          <p:nvPr/>
        </p:nvSpPr>
        <p:spPr>
          <a:xfrm>
            <a:off x="2857500" y="5905500"/>
            <a:ext cx="2095500" cy="123825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57150" dist="19050" dir="5400000">
              <a:srgbClr val="16243B">
                <a:alpha val="7000"/>
              </a:srgbClr>
            </a:outerShdw>
          </a:effectLst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54350" y="6324600"/>
            <a:ext cx="400050" cy="40005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3606800" y="6303466"/>
            <a:ext cx="879773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Archival</a:t>
            </a:r>
            <a:endParaRPr lang="en-US" sz="1575" dirty="0"/>
          </a:p>
        </p:txBody>
      </p:sp>
      <p:sp>
        <p:nvSpPr>
          <p:cNvPr id="41" name="Text 31"/>
          <p:cNvSpPr/>
          <p:nvPr/>
        </p:nvSpPr>
        <p:spPr>
          <a:xfrm>
            <a:off x="3606800" y="6561534"/>
            <a:ext cx="87977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9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Cold storage</a:t>
            </a:r>
            <a:endParaRPr lang="en-US" sz="1125" dirty="0"/>
          </a:p>
        </p:txBody>
      </p:sp>
      <p:sp>
        <p:nvSpPr>
          <p:cNvPr id="42" name="Shape 32"/>
          <p:cNvSpPr/>
          <p:nvPr/>
        </p:nvSpPr>
        <p:spPr>
          <a:xfrm>
            <a:off x="7239000" y="5905500"/>
            <a:ext cx="2095500" cy="1524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57150" dist="19050" dir="5400000">
              <a:srgbClr val="16243B">
                <a:alpha val="7000"/>
              </a:srgbClr>
            </a:outerShdw>
          </a:effectLst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54900" y="6166148"/>
            <a:ext cx="419100" cy="41910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454900" y="6699548"/>
            <a:ext cx="1739900" cy="507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 &amp; Dashboards</a:t>
            </a:r>
            <a:endParaRPr lang="en-US" sz="1650" dirty="0"/>
          </a:p>
        </p:txBody>
      </p:sp>
      <p:sp>
        <p:nvSpPr>
          <p:cNvPr id="45" name="Shape 34"/>
          <p:cNvSpPr/>
          <p:nvPr/>
        </p:nvSpPr>
        <p:spPr>
          <a:xfrm>
            <a:off x="10477500" y="5905500"/>
            <a:ext cx="2286000" cy="1524000"/>
          </a:xfrm>
          <a:prstGeom prst="roundRect">
            <a:avLst>
              <a:gd name="adj" fmla="val 11250"/>
            </a:avLst>
          </a:prstGeom>
          <a:solidFill>
            <a:srgbClr val="16243B"/>
          </a:solidFill>
          <a:ln w="6350">
            <a:solidFill>
              <a:srgbClr val="16243B"/>
            </a:solidFill>
            <a:prstDash val="solid"/>
          </a:ln>
          <a:effectLst>
            <a:outerShdw sx="100000" sy="100000" kx="0" ky="0" algn="bl" rotWithShape="0" blurRad="171450" dist="57150" dir="5400000">
              <a:srgbClr val="16243B">
                <a:alpha val="22000"/>
              </a:srgbClr>
            </a:outerShdw>
          </a:effectLst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693401" y="6166148"/>
            <a:ext cx="419100" cy="41910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10693401" y="6699548"/>
            <a:ext cx="1930400" cy="507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F4F1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Monetization Engine</a:t>
            </a:r>
            <a:endParaRPr lang="en-US" sz="1650" dirty="0"/>
          </a:p>
        </p:txBody>
      </p:sp>
      <p:sp>
        <p:nvSpPr>
          <p:cNvPr id="48" name="Shape 36"/>
          <p:cNvSpPr/>
          <p:nvPr/>
        </p:nvSpPr>
        <p:spPr>
          <a:xfrm>
            <a:off x="10477500" y="8191500"/>
            <a:ext cx="2286000" cy="14287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57150" dist="19050" dir="5400000">
              <a:srgbClr val="16243B">
                <a:alpha val="7000"/>
              </a:srgbClr>
            </a:outerShdw>
          </a:effectLst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693401" y="8705850"/>
            <a:ext cx="381893" cy="400050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11227694" y="8564265"/>
            <a:ext cx="1396107" cy="49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Billing System</a:t>
            </a:r>
            <a:endParaRPr lang="en-US" sz="1650" dirty="0"/>
          </a:p>
        </p:txBody>
      </p:sp>
      <p:sp>
        <p:nvSpPr>
          <p:cNvPr id="51" name="Text 38"/>
          <p:cNvSpPr/>
          <p:nvPr/>
        </p:nvSpPr>
        <p:spPr>
          <a:xfrm>
            <a:off x="11227694" y="9063335"/>
            <a:ext cx="145189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9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Receives NDM file</a:t>
            </a:r>
            <a:endParaRPr lang="en-US" sz="1125" dirty="0"/>
          </a:p>
        </p:txBody>
      </p:sp>
      <p:sp>
        <p:nvSpPr>
          <p:cNvPr id="52" name="Text 39"/>
          <p:cNvSpPr/>
          <p:nvPr/>
        </p:nvSpPr>
        <p:spPr>
          <a:xfrm>
            <a:off x="914400" y="9702800"/>
            <a:ext cx="392284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Metering Engine — Architecture &amp; Design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810512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24" kern="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INGESTION LAYER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14400" y="1193800"/>
            <a:ext cx="1810512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70" kern="0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 billable events at the edge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14400" y="2017514"/>
            <a:ext cx="1157668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Apigee Gateway and ASDE identify billable activity and produce events onto a Kafka topic for downstream processing.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457575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3D54D6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362325"/>
            <a:ext cx="8143091" cy="41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Apigee Gateway &amp; ASDE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and produce billable events.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116685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3D54D6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021435"/>
            <a:ext cx="8142923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Events are published to a dedicated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Kafka topic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the single ingress for metering.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5149155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3D54D6"/>
          </a:solidFill>
          <a:ln/>
        </p:spPr>
      </p:sp>
      <p:sp>
        <p:nvSpPr>
          <p:cNvPr id="10" name="Text 8"/>
          <p:cNvSpPr/>
          <p:nvPr/>
        </p:nvSpPr>
        <p:spPr>
          <a:xfrm>
            <a:off x="1238250" y="5053905"/>
            <a:ext cx="7776161" cy="41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Designed to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extend to additional source systems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future.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829800" y="3362325"/>
            <a:ext cx="7543800" cy="2584450"/>
          </a:xfrm>
          <a:prstGeom prst="roundRect">
            <a:avLst>
              <a:gd name="adj" fmla="val 6634"/>
            </a:avLst>
          </a:prstGeom>
          <a:solidFill>
            <a:srgbClr val="16243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72700" y="3686175"/>
            <a:ext cx="323850" cy="3238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29900" y="3724275"/>
            <a:ext cx="1508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1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Apache Kafka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172700" y="4295775"/>
            <a:ext cx="75438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7C8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TOPIC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172700" y="4549775"/>
            <a:ext cx="75438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DB0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wf.recipient.billable.events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172700" y="5095875"/>
            <a:ext cx="75438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7C8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PAYLOAD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172700" y="5349875"/>
            <a:ext cx="75438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1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JSON event per billable action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914400" y="9626600"/>
            <a:ext cx="392284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Metering Engine — Architecture &amp; Design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810512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24" kern="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— EVENT PROCESSOR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14400" y="1193800"/>
            <a:ext cx="1810512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70" kern="0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JSON stream to columnar storage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14400" y="2017514"/>
            <a:ext cx="1157668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Consumes events from Kafka and converts batches into Parquet files written to HPOS (S3), partitioned by date.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457575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3D54D6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362325"/>
            <a:ext cx="8142923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Consumes events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(JSON)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the Kafka topic </a:t>
            </a:r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2A35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wf.recipient.billable.events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14400" y="4444206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3D54D6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348956"/>
            <a:ext cx="8142923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Converts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batches of events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Parquet files and stores them to HPOS.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14400" y="5430838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3D54D6"/>
          </a:solidFill>
          <a:ln/>
        </p:spPr>
      </p:sp>
      <p:sp>
        <p:nvSpPr>
          <p:cNvPr id="10" name="Text 8"/>
          <p:cNvSpPr/>
          <p:nvPr/>
        </p:nvSpPr>
        <p:spPr>
          <a:xfrm>
            <a:off x="1238250" y="5335588"/>
            <a:ext cx="7671713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Files are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partitioned by date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efficient downstream reads.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829800" y="3362325"/>
            <a:ext cx="7543800" cy="2724150"/>
          </a:xfrm>
          <a:prstGeom prst="roundRect">
            <a:avLst>
              <a:gd name="adj" fmla="val 6294"/>
            </a:avLst>
          </a:prstGeom>
          <a:solidFill>
            <a:srgbClr val="1624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172700" y="3686175"/>
            <a:ext cx="75438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7C8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PARTITION PATH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172700" y="3959225"/>
            <a:ext cx="706374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9DB0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s3://bucket/ year=2025/month=11/day=14/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0172700" y="4806950"/>
            <a:ext cx="6858000" cy="9525"/>
          </a:xfrm>
          <a:prstGeom prst="rect">
            <a:avLst/>
          </a:prstGeom>
          <a:solidFill>
            <a:srgbClr val="2C3A55"/>
          </a:solidFill>
          <a:ln/>
        </p:spPr>
      </p:sp>
      <p:sp>
        <p:nvSpPr>
          <p:cNvPr id="15" name="Text 13"/>
          <p:cNvSpPr/>
          <p:nvPr/>
        </p:nvSpPr>
        <p:spPr>
          <a:xfrm>
            <a:off x="10172700" y="5140325"/>
            <a:ext cx="66833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7C8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FORMAT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150530" y="5064125"/>
            <a:ext cx="95637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1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Parquet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172700" y="5565775"/>
            <a:ext cx="56961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7C8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899111" y="5489575"/>
            <a:ext cx="120779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1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HPOS (S3)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4400" y="9626600"/>
            <a:ext cx="392284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Metering Engine — Architecture &amp; Design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810512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24" kern="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AGGREGATION LAYER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14400" y="1193800"/>
            <a:ext cx="1810512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70" kern="0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Enrich, aggregate, and persist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14400" y="2017514"/>
            <a:ext cx="1216533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scheduled batch job turns raw events into priced, aggregated records ready for reporting and billing.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324225"/>
            <a:ext cx="3943350" cy="1497013"/>
          </a:xfrm>
          <a:prstGeom prst="roundRect">
            <a:avLst>
              <a:gd name="adj" fmla="val 1018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28575" dist="9525" dir="5400000">
              <a:srgbClr val="16243B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7450" y="361632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SCHEDULE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7450" y="3908425"/>
            <a:ext cx="37369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Scheduled batch job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187450" y="4294188"/>
            <a:ext cx="373697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hourly or daily.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5086350" y="3324225"/>
            <a:ext cx="3943350" cy="1497013"/>
          </a:xfrm>
          <a:prstGeom prst="roundRect">
            <a:avLst>
              <a:gd name="adj" fmla="val 1018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28575" dist="9525" dir="5400000">
              <a:srgbClr val="16243B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59400" y="361632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59400" y="3908425"/>
            <a:ext cx="37369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Raw events from S3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5359400" y="4294188"/>
            <a:ext cx="373697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Reads partitioned Parquet.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9258300" y="3324225"/>
            <a:ext cx="3943350" cy="1497013"/>
          </a:xfrm>
          <a:prstGeom prst="roundRect">
            <a:avLst>
              <a:gd name="adj" fmla="val 1018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28575" dist="9525" dir="5400000">
              <a:srgbClr val="16243B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31350" y="361632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ENRICH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31350" y="3908425"/>
            <a:ext cx="37369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Pricing configuration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531350" y="4294188"/>
            <a:ext cx="373697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Applies pricing config.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3430250" y="3324225"/>
            <a:ext cx="3943350" cy="1497013"/>
          </a:xfrm>
          <a:prstGeom prst="roundRect">
            <a:avLst>
              <a:gd name="adj" fmla="val 1018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28575" dist="9525" dir="5400000">
              <a:srgbClr val="16243B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03301" y="3616325"/>
            <a:ext cx="37369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703301" y="3908425"/>
            <a:ext cx="37369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Writes to MongoDB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3703301" y="4294188"/>
            <a:ext cx="373697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Used for reporting.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914400" y="5164138"/>
            <a:ext cx="16459200" cy="1416050"/>
          </a:xfrm>
          <a:prstGeom prst="roundRect">
            <a:avLst>
              <a:gd name="adj" fmla="val 10762"/>
            </a:avLst>
          </a:prstGeom>
          <a:solidFill>
            <a:srgbClr val="EFEAE0"/>
          </a:solidFill>
          <a:ln w="6350">
            <a:solidFill>
              <a:srgbClr val="E3DE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44600" y="5456238"/>
            <a:ext cx="1737868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5A64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AGGREGATES BY — based on configuration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244600" y="5805488"/>
            <a:ext cx="856456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79550" y="5907088"/>
            <a:ext cx="46275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2234406" y="5805488"/>
            <a:ext cx="1454348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9356" y="5907088"/>
            <a:ext cx="106064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3822105" y="5805488"/>
            <a:ext cx="1632942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7055" y="5907088"/>
            <a:ext cx="123924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5588397" y="5805488"/>
            <a:ext cx="1271091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23347" y="5907088"/>
            <a:ext cx="87739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6992838" y="5805488"/>
            <a:ext cx="850305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7788" y="5907088"/>
            <a:ext cx="45660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</a:t>
            </a:r>
            <a:endParaRPr lang="en-US" sz="1725" dirty="0"/>
          </a:p>
        </p:txBody>
      </p:sp>
      <p:sp>
        <p:nvSpPr>
          <p:cNvPr id="33" name="Text 31"/>
          <p:cNvSpPr/>
          <p:nvPr/>
        </p:nvSpPr>
        <p:spPr>
          <a:xfrm>
            <a:off x="914400" y="9626600"/>
            <a:ext cx="392284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Metering Engine — Architecture &amp; Design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1000" y="0"/>
            <a:ext cx="6477000" cy="10287000"/>
          </a:xfrm>
          <a:prstGeom prst="rect">
            <a:avLst/>
          </a:prstGeom>
          <a:gradFill rotWithShape="1">
            <a:gsLst>
              <a:gs pos="0">
                <a:srgbClr val="00A954">
                  <a:alpha val="16000"/>
                </a:srgbClr>
              </a:gs>
              <a:gs pos="100000">
                <a:srgbClr val="00A954">
                  <a:alpha val="0"/>
                </a:srgbClr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838200"/>
            <a:ext cx="1810512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24" kern="0" dirty="0">
                <a:solidFill>
                  <a:srgbClr val="7BE0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— AGGREGATED DATA STORE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301750"/>
            <a:ext cx="609600" cy="60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2600" y="1212850"/>
            <a:ext cx="2894846" cy="82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F4F1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MongoDB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2209800"/>
            <a:ext cx="1157668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B7C0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lightweight store holding only the aggregated output — optimized for the reads that power monetization and analytics.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914400" y="3592711"/>
            <a:ext cx="5334000" cy="1509216"/>
          </a:xfrm>
          <a:prstGeom prst="roundRect">
            <a:avLst>
              <a:gd name="adj" fmla="val 1136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44600" y="3961011"/>
            <a:ext cx="514096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BE0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Aggregated only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244600" y="4443611"/>
            <a:ext cx="5140960" cy="32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B7C0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Stores only aggregated data — no raw events.</a:t>
            </a:r>
            <a:endParaRPr lang="en-US" sz="1575" dirty="0"/>
          </a:p>
        </p:txBody>
      </p:sp>
      <p:sp>
        <p:nvSpPr>
          <p:cNvPr id="10" name="Shape 7"/>
          <p:cNvSpPr/>
          <p:nvPr/>
        </p:nvSpPr>
        <p:spPr>
          <a:xfrm>
            <a:off x="6477000" y="3592711"/>
            <a:ext cx="5334000" cy="1509216"/>
          </a:xfrm>
          <a:prstGeom prst="roundRect">
            <a:avLst>
              <a:gd name="adj" fmla="val 1136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07200" y="3961011"/>
            <a:ext cx="514096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BE0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footprint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6807200" y="4443611"/>
            <a:ext cx="5140960" cy="32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B7C0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much smaller storage footprint than raw.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12039600" y="3592711"/>
            <a:ext cx="5334000" cy="1509216"/>
          </a:xfrm>
          <a:prstGeom prst="roundRect">
            <a:avLst>
              <a:gd name="adj" fmla="val 1136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69801" y="3961011"/>
            <a:ext cx="514096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BE0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 queries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2369801" y="4443611"/>
            <a:ext cx="5140960" cy="32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B7C0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 query performance for reporting.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914400" y="9626600"/>
            <a:ext cx="392284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C8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Metering Engine — Architecture &amp; Design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810512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24" kern="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— ANALYTICS &amp; DASHBOARDS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14400" y="1193800"/>
            <a:ext cx="1810512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70" kern="0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Reporting on the aggregated data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14400" y="2017514"/>
            <a:ext cx="1216533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Dashboards present the aggregated data through a detailed interface, reading from MongoDB based on the selected filters.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362325"/>
            <a:ext cx="13144500" cy="944166"/>
          </a:xfrm>
          <a:prstGeom prst="roundRect">
            <a:avLst>
              <a:gd name="adj" fmla="val 16141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28575" dist="9525" dir="5400000">
              <a:srgbClr val="16243B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5550" y="374015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3D54D6"/>
          </a:solidFill>
          <a:ln/>
        </p:spPr>
      </p:sp>
      <p:sp>
        <p:nvSpPr>
          <p:cNvPr id="7" name="Text 5"/>
          <p:cNvSpPr/>
          <p:nvPr/>
        </p:nvSpPr>
        <p:spPr>
          <a:xfrm>
            <a:off x="1549400" y="3654425"/>
            <a:ext cx="1127390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Represents aggregated data in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 reporting formats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a detailed user interface.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14400" y="4554141"/>
            <a:ext cx="13144500" cy="944166"/>
          </a:xfrm>
          <a:prstGeom prst="roundRect">
            <a:avLst>
              <a:gd name="adj" fmla="val 16141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28575" dist="9525" dir="5400000">
              <a:srgbClr val="16243B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25550" y="4931966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3D54D6"/>
          </a:solidFill>
          <a:ln/>
        </p:spPr>
      </p:sp>
      <p:sp>
        <p:nvSpPr>
          <p:cNvPr id="10" name="Text 8"/>
          <p:cNvSpPr/>
          <p:nvPr/>
        </p:nvSpPr>
        <p:spPr>
          <a:xfrm>
            <a:off x="1549400" y="4846241"/>
            <a:ext cx="919640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Reads data from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MongoDB 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based on the filters applied in the dashboard.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4400" y="5745956"/>
            <a:ext cx="13144500" cy="944166"/>
          </a:xfrm>
          <a:prstGeom prst="roundRect">
            <a:avLst>
              <a:gd name="adj" fmla="val 16141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28575" dist="9525" dir="5400000">
              <a:srgbClr val="16243B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25550" y="6123781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3D54D6"/>
          </a:solidFill>
          <a:ln/>
        </p:spPr>
      </p:sp>
      <p:sp>
        <p:nvSpPr>
          <p:cNvPr id="13" name="Text 11"/>
          <p:cNvSpPr/>
          <p:nvPr/>
        </p:nvSpPr>
        <p:spPr>
          <a:xfrm>
            <a:off x="1549400" y="6038056"/>
            <a:ext cx="5938997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Builds dashboards for </a:t>
            </a:r>
            <a:pPr algn="l" indent="0" marL="0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 and reporting</a:t>
            </a:r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914400" y="9626600"/>
            <a:ext cx="392284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Metering Engine — Architecture &amp; Design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810512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24" kern="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— ARCHIVAL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14400" y="1193800"/>
            <a:ext cx="1810512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70" kern="0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Tiering raw data to cold storage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14400" y="2017514"/>
            <a:ext cx="123634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Raw data on S3 is retained hot for active processing, then aged out to cold storage.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261420"/>
            <a:ext cx="3364111" cy="1339850"/>
          </a:xfrm>
          <a:prstGeom prst="roundRect">
            <a:avLst>
              <a:gd name="adj" fmla="val 12796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57150" dist="19050" dir="5400000">
              <a:srgbClr val="16243B">
                <a:alpha val="7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1750" y="3702745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49450" y="3610670"/>
            <a:ext cx="2135882" cy="406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Raw S3 data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949450" y="4017070"/>
            <a:ext cx="2135882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9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Hot · actively processed</a:t>
            </a:r>
            <a:endParaRPr lang="en-US" sz="1425" dirty="0"/>
          </a:p>
        </p:txBody>
      </p:sp>
      <p:sp>
        <p:nvSpPr>
          <p:cNvPr id="9" name="Text 6"/>
          <p:cNvSpPr/>
          <p:nvPr/>
        </p:nvSpPr>
        <p:spPr>
          <a:xfrm>
            <a:off x="8349853" y="3632895"/>
            <a:ext cx="207454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after 14 months</a:t>
            </a:r>
            <a:endParaRPr lang="en-US" sz="16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8328" y="4001195"/>
            <a:ext cx="34290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4307245" y="3267770"/>
            <a:ext cx="3066356" cy="1327150"/>
          </a:xfrm>
          <a:prstGeom prst="roundRect">
            <a:avLst>
              <a:gd name="adj" fmla="val 12919"/>
            </a:avLst>
          </a:prstGeom>
          <a:solidFill>
            <a:srgbClr val="16243B"/>
          </a:solidFill>
          <a:ln/>
          <a:effectLst>
            <a:outerShdw sx="100000" sy="100000" kx="0" ky="0" algn="bl" rotWithShape="0" blurRad="171450" dist="57150" dir="5400000">
              <a:srgbClr val="16243B">
                <a:alpha val="2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88245" y="3702745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35945" y="3610670"/>
            <a:ext cx="1822321" cy="406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1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Cold storage</a:t>
            </a:r>
            <a:endParaRPr lang="en-US" sz="2250" dirty="0"/>
          </a:p>
        </p:txBody>
      </p:sp>
      <p:sp>
        <p:nvSpPr>
          <p:cNvPr id="14" name="Text 9"/>
          <p:cNvSpPr/>
          <p:nvPr/>
        </p:nvSpPr>
        <p:spPr>
          <a:xfrm>
            <a:off x="15335945" y="4017070"/>
            <a:ext cx="1822321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7C0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Archived · low cost</a:t>
            </a:r>
            <a:endParaRPr lang="en-US" sz="1425" dirty="0"/>
          </a:p>
        </p:txBody>
      </p:sp>
      <p:sp>
        <p:nvSpPr>
          <p:cNvPr id="15" name="Text 10"/>
          <p:cNvSpPr/>
          <p:nvPr/>
        </p:nvSpPr>
        <p:spPr>
          <a:xfrm>
            <a:off x="914400" y="9626600"/>
            <a:ext cx="392284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Metering Engine — Architecture &amp; Design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810512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24" kern="0" dirty="0">
                <a:solidFill>
                  <a:srgbClr val="3D54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— MONETIZATION ENGINE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14400" y="1193800"/>
            <a:ext cx="1810512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70" kern="0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Turning usage into billing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14400" y="1998464"/>
            <a:ext cx="12753975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5A64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Reads aggregated data from MongoDB, applies business and pricing rules, and delivers billing files to the Billing System.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326209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3D54D6"/>
          </a:solidFill>
          <a:ln/>
        </p:spPr>
      </p:sp>
      <p:sp>
        <p:nvSpPr>
          <p:cNvPr id="6" name="Text 4"/>
          <p:cNvSpPr/>
          <p:nvPr/>
        </p:nvSpPr>
        <p:spPr>
          <a:xfrm>
            <a:off x="1209675" y="3240484"/>
            <a:ext cx="366690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87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Reads the data from </a:t>
            </a:r>
            <a:pPr algn="l" indent="0" marL="0">
              <a:lnSpc>
                <a:spcPct val="138000"/>
              </a:lnSpc>
              <a:buNone/>
            </a:pPr>
            <a:r>
              <a:rPr lang="en-US" sz="1875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MongoDB</a:t>
            </a:r>
            <a:pPr algn="l" indent="0" marL="0">
              <a:lnSpc>
                <a:spcPct val="138000"/>
              </a:lnSpc>
              <a:buNone/>
            </a:pPr>
            <a:r>
              <a:rPr lang="en-US" sz="187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14400" y="386437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3D54D6"/>
          </a:solidFill>
          <a:ln/>
        </p:spPr>
      </p:sp>
      <p:sp>
        <p:nvSpPr>
          <p:cNvPr id="8" name="Text 6"/>
          <p:cNvSpPr/>
          <p:nvPr/>
        </p:nvSpPr>
        <p:spPr>
          <a:xfrm>
            <a:off x="1209675" y="3778647"/>
            <a:ext cx="454701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87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Applies </a:t>
            </a:r>
            <a:pPr algn="l" indent="0" marL="0">
              <a:lnSpc>
                <a:spcPct val="138000"/>
              </a:lnSpc>
              <a:buNone/>
            </a:pPr>
            <a:r>
              <a:rPr lang="en-US" sz="1875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billing-related business rules</a:t>
            </a:r>
            <a:pPr algn="l" indent="0" marL="0">
              <a:lnSpc>
                <a:spcPct val="138000"/>
              </a:lnSpc>
              <a:buNone/>
            </a:pPr>
            <a:r>
              <a:rPr lang="en-US" sz="187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14400" y="4402534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3D54D6"/>
          </a:solidFill>
          <a:ln/>
        </p:spPr>
      </p:sp>
      <p:sp>
        <p:nvSpPr>
          <p:cNvPr id="10" name="Text 8"/>
          <p:cNvSpPr/>
          <p:nvPr/>
        </p:nvSpPr>
        <p:spPr>
          <a:xfrm>
            <a:off x="1209675" y="4316809"/>
            <a:ext cx="252093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87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Applies </a:t>
            </a:r>
            <a:pPr algn="l" indent="0" marL="0">
              <a:lnSpc>
                <a:spcPct val="138000"/>
              </a:lnSpc>
              <a:buNone/>
            </a:pPr>
            <a:r>
              <a:rPr lang="en-US" sz="1875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pricing rules</a:t>
            </a:r>
            <a:pPr algn="l" indent="0" marL="0">
              <a:lnSpc>
                <a:spcPct val="138000"/>
              </a:lnSpc>
              <a:buNone/>
            </a:pPr>
            <a:r>
              <a:rPr lang="en-US" sz="187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14400" y="4940697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3D54D6"/>
          </a:solidFill>
          <a:ln/>
        </p:spPr>
      </p:sp>
      <p:sp>
        <p:nvSpPr>
          <p:cNvPr id="12" name="Text 10"/>
          <p:cNvSpPr/>
          <p:nvPr/>
        </p:nvSpPr>
        <p:spPr>
          <a:xfrm>
            <a:off x="1209675" y="4854972"/>
            <a:ext cx="880893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87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Prepares billing records for each event by mapping with </a:t>
            </a:r>
            <a:pPr algn="l" indent="0" marL="0">
              <a:lnSpc>
                <a:spcPct val="138000"/>
              </a:lnSpc>
              <a:buNone/>
            </a:pPr>
            <a:r>
              <a:rPr lang="en-US" sz="1875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ACO billing data requirements </a:t>
            </a:r>
            <a:pPr algn="l" indent="0" marL="0">
              <a:lnSpc>
                <a:spcPct val="138000"/>
              </a:lnSpc>
              <a:buNone/>
            </a:pPr>
            <a:r>
              <a:rPr lang="en-US" sz="187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14400" y="5807472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3D54D6"/>
          </a:solidFill>
          <a:ln/>
        </p:spPr>
      </p:sp>
      <p:sp>
        <p:nvSpPr>
          <p:cNvPr id="14" name="Text 12"/>
          <p:cNvSpPr/>
          <p:nvPr/>
        </p:nvSpPr>
        <p:spPr>
          <a:xfrm>
            <a:off x="1209675" y="5721747"/>
            <a:ext cx="606156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87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Prepares the file and </a:t>
            </a:r>
            <a:pPr algn="l" indent="0" marL="0">
              <a:lnSpc>
                <a:spcPct val="138000"/>
              </a:lnSpc>
              <a:buNone/>
            </a:pPr>
            <a:r>
              <a:rPr lang="en-US" sz="1875" b="1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NDMs it to the Billing System</a:t>
            </a:r>
            <a:pPr algn="l" indent="0" marL="0">
              <a:lnSpc>
                <a:spcPct val="138000"/>
              </a:lnSpc>
              <a:buNone/>
            </a:pPr>
            <a:r>
              <a:rPr lang="en-US" sz="1875" dirty="0">
                <a:solidFill>
                  <a:srgbClr val="2A3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0295434" y="3240484"/>
            <a:ext cx="7078167" cy="1543050"/>
          </a:xfrm>
          <a:prstGeom prst="roundRect">
            <a:avLst>
              <a:gd name="adj" fmla="val 11111"/>
            </a:avLst>
          </a:prstGeom>
          <a:solidFill>
            <a:srgbClr val="1624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600234" y="3526234"/>
            <a:ext cx="711542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C8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 CADENCE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600234" y="3818334"/>
            <a:ext cx="7115423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1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Monthly </a:t>
            </a:r>
            <a:pPr algn="l" indent="0" marL="0">
              <a:buNone/>
            </a:pPr>
            <a:r>
              <a:rPr lang="en-US" sz="1500" dirty="0">
                <a:solidFill>
                  <a:srgbClr val="9DB0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default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600234" y="4262835"/>
            <a:ext cx="711542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7C0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Configurable: daily / weekly / monthly.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0295434" y="4993085"/>
            <a:ext cx="7078167" cy="1028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  <a:effectLst>
            <a:outerShdw sx="100000" sy="100000" kx="0" ky="0" algn="bl" rotWithShape="0" blurRad="28575" dist="9525" dir="5400000">
              <a:srgbClr val="16243B">
                <a:alpha val="6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7534" y="5316935"/>
            <a:ext cx="381000" cy="381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39984" y="5247084"/>
            <a:ext cx="265473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62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Billing System</a:t>
            </a:r>
            <a:endParaRPr lang="en-US" sz="1725" dirty="0"/>
          </a:p>
        </p:txBody>
      </p:sp>
      <p:sp>
        <p:nvSpPr>
          <p:cNvPr id="22" name="Text 19"/>
          <p:cNvSpPr/>
          <p:nvPr/>
        </p:nvSpPr>
        <p:spPr>
          <a:xfrm>
            <a:off x="11139984" y="5545535"/>
            <a:ext cx="265473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9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Receives the prepared NDM file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914400" y="9626600"/>
            <a:ext cx="392284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Metering Engine — Architecture &amp; Design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2026-06-21T17:14:06Z</dcterms:created>
  <dcterms:modified xsi:type="dcterms:W3CDTF">2026-06-21T17:14:06Z</dcterms:modified>
</cp:coreProperties>
</file>