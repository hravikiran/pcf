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pipeline. Event Processor and Aggregator write into HPOS S3 object storage. Monetization delivers the billing file to the ACO/RPM billing system. Parquet in S3 is queried directly to power dashboards. The advantages below are the design guarantees stated in business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once, reused everywhere. A new billing use case inherits the pipeline: capabilities it does not rebuild, onboarding done by configuration, and clear extension points. The same platform delivers reconciliation and reporting for every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horizons. Near term we broaden sources and add quick invoice adjustments. Mid term we add providers, pricing models and self-service analytics. Long term the Metering Engine becomes the enterprise monetization and usage-governance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63" y="381000"/>
            <a:ext cx="18524302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Architecture &amp; Advantages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23863" y="1090538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723863" y="1372567"/>
            <a:ext cx="266681" cy="23813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5" name="Text 3"/>
          <p:cNvSpPr/>
          <p:nvPr/>
        </p:nvSpPr>
        <p:spPr>
          <a:xfrm>
            <a:off x="1076213" y="1223739"/>
            <a:ext cx="997353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25911" y="1372567"/>
            <a:ext cx="266681" cy="23813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7" name="Text 5"/>
          <p:cNvSpPr/>
          <p:nvPr/>
        </p:nvSpPr>
        <p:spPr>
          <a:xfrm>
            <a:off x="2578261" y="1223739"/>
            <a:ext cx="1489137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path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19742" y="1303548"/>
            <a:ext cx="161851" cy="161851"/>
          </a:xfrm>
          <a:prstGeom prst="roundRect">
            <a:avLst>
              <a:gd name="adj" fmla="val 23540"/>
            </a:avLst>
          </a:prstGeom>
          <a:ln w="23813">
            <a:solidFill>
              <a:srgbClr val="C044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7262" y="1223739"/>
            <a:ext cx="1671172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0779" y="1303548"/>
            <a:ext cx="161851" cy="161851"/>
          </a:xfrm>
          <a:prstGeom prst="roundRect">
            <a:avLst>
              <a:gd name="adj" fmla="val 23540"/>
            </a:avLst>
          </a:prstGeom>
          <a:ln w="23813">
            <a:solidFill>
              <a:srgbClr val="1F613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538299" y="1223739"/>
            <a:ext cx="1659545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HPOS S3 storage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863" y="1640458"/>
            <a:ext cx="16859250" cy="66675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23863" y="1830958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0F2044"/>
          </a:solidFill>
          <a:ln/>
        </p:spPr>
      </p:sp>
      <p:sp>
        <p:nvSpPr>
          <p:cNvPr id="14" name="Text 11"/>
          <p:cNvSpPr/>
          <p:nvPr/>
        </p:nvSpPr>
        <p:spPr>
          <a:xfrm>
            <a:off x="933338" y="2021458"/>
            <a:ext cx="2221353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33338" y="2415387"/>
            <a:ext cx="2095612" cy="614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· ASDE · future apps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600338" y="1830958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7859">
            <a:solidFill>
              <a:srgbClr val="0F20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27673" y="2039317"/>
            <a:ext cx="2182062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Topic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3827673" y="2433247"/>
            <a:ext cx="2059893" cy="614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Partitioned · durable buffer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476907" y="1830958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3813">
            <a:solidFill>
              <a:srgbClr val="C0442A"/>
            </a:solidFill>
            <a:prstDash val="solid"/>
          </a:ln>
          <a:effectLst>
            <a:outerShdw sx="100000" sy="100000" kx="0" ky="0" algn="bl" rotWithShape="0" blurRad="114300" dist="28575" dir="5400000">
              <a:srgbClr val="0F2044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10195" y="2045271"/>
            <a:ext cx="2168965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Processor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6710195" y="2439200"/>
            <a:ext cx="2047987" cy="614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&amp; de-duplicate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353476" y="1830958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3813">
            <a:solidFill>
              <a:srgbClr val="C0442A"/>
            </a:solidFill>
            <a:prstDash val="solid"/>
          </a:ln>
          <a:effectLst>
            <a:outerShdw sx="100000" sy="100000" kx="0" ky="0" algn="bl" rotWithShape="0" blurRad="114300" dist="28575" dir="5400000">
              <a:srgbClr val="0F2044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586764" y="2045271"/>
            <a:ext cx="2168965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9586764" y="2439200"/>
            <a:ext cx="2168965" cy="326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rules · classify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2230044" y="1830958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3813">
            <a:solidFill>
              <a:srgbClr val="C0442A"/>
            </a:solidFill>
            <a:prstDash val="solid"/>
          </a:ln>
          <a:effectLst>
            <a:outerShdw sx="100000" sy="100000" kx="0" ky="0" algn="bl" rotWithShape="0" blurRad="114300" dist="28575" dir="5400000">
              <a:srgbClr val="0F2044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2463332" y="2045271"/>
            <a:ext cx="2168965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2463332" y="2439200"/>
            <a:ext cx="2168965" cy="326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· map · deliver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5106613" y="1830958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0F2044"/>
          </a:solidFill>
          <a:ln/>
        </p:spPr>
      </p:sp>
      <p:sp>
        <p:nvSpPr>
          <p:cNvPr id="29" name="Text 26"/>
          <p:cNvSpPr/>
          <p:nvPr/>
        </p:nvSpPr>
        <p:spPr>
          <a:xfrm>
            <a:off x="15316088" y="2021458"/>
            <a:ext cx="2095612" cy="63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 / RPM Billing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5316088" y="2714067"/>
            <a:ext cx="2221353" cy="326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billing file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476907" y="4193139"/>
            <a:ext cx="2438363" cy="140968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7859">
            <a:solidFill>
              <a:srgbClr val="1F613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04242" y="4401499"/>
            <a:ext cx="2182062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RAW_EVENTS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6704242" y="4795428"/>
            <a:ext cx="2182062" cy="326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9353476" y="4193139"/>
            <a:ext cx="2438363" cy="1409681"/>
          </a:xfrm>
          <a:prstGeom prst="roundRect">
            <a:avLst>
              <a:gd name="adj" fmla="val 8108"/>
            </a:avLst>
          </a:prstGeom>
          <a:solidFill>
            <a:srgbClr val="FCEEEA"/>
          </a:solidFill>
          <a:ln w="17859">
            <a:solidFill>
              <a:srgbClr val="C044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580811" y="4401499"/>
            <a:ext cx="2059893" cy="63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Events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9580811" y="5094108"/>
            <a:ext cx="2182062" cy="326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8C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· failed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2230044" y="4193139"/>
            <a:ext cx="2438363" cy="140968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7859">
            <a:solidFill>
              <a:srgbClr val="1F61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457379" y="4401499"/>
            <a:ext cx="2182062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Files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12457379" y="4795428"/>
            <a:ext cx="2059893" cy="614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Billable · non-billable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9353476" y="6117208"/>
            <a:ext cx="2438363" cy="131443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859">
            <a:solidFill>
              <a:srgbClr val="155E6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80811" y="6325567"/>
            <a:ext cx="2182062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on S3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9580811" y="6719497"/>
            <a:ext cx="2182062" cy="326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over Parquet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2230044" y="6117208"/>
            <a:ext cx="2438363" cy="1314431"/>
          </a:xfrm>
          <a:prstGeom prst="roundRect">
            <a:avLst>
              <a:gd name="adj" fmla="val 8696"/>
            </a:avLst>
          </a:prstGeom>
          <a:solidFill>
            <a:srgbClr val="4A2A6B"/>
          </a:solidFill>
          <a:ln/>
        </p:spPr>
      </p:sp>
      <p:sp>
        <p:nvSpPr>
          <p:cNvPr id="44" name="Text 41"/>
          <p:cNvSpPr/>
          <p:nvPr/>
        </p:nvSpPr>
        <p:spPr>
          <a:xfrm>
            <a:off x="12439520" y="6307708"/>
            <a:ext cx="2221353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2100" dirty="0"/>
          </a:p>
        </p:txBody>
      </p:sp>
      <p:sp>
        <p:nvSpPr>
          <p:cNvPr id="45" name="Text 42"/>
          <p:cNvSpPr/>
          <p:nvPr/>
        </p:nvSpPr>
        <p:spPr>
          <a:xfrm>
            <a:off x="12439520" y="6701637"/>
            <a:ext cx="2221353" cy="326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D7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Tableau-style BI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15106613" y="6117208"/>
            <a:ext cx="2438363" cy="131443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859">
            <a:solidFill>
              <a:srgbClr val="155E6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5333948" y="6325567"/>
            <a:ext cx="2182062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2100" dirty="0"/>
          </a:p>
        </p:txBody>
      </p:sp>
      <p:sp>
        <p:nvSpPr>
          <p:cNvPr id="48" name="Text 45"/>
          <p:cNvSpPr/>
          <p:nvPr/>
        </p:nvSpPr>
        <p:spPr>
          <a:xfrm>
            <a:off x="15333948" y="6719497"/>
            <a:ext cx="2059893" cy="614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64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&amp; monthly aggregates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723863" y="7622139"/>
            <a:ext cx="16821113" cy="590476"/>
          </a:xfrm>
          <a:prstGeom prst="roundRect">
            <a:avLst>
              <a:gd name="adj" fmla="val 19357"/>
            </a:avLst>
          </a:prstGeom>
          <a:solidFill>
            <a:srgbClr val="F5E9C8"/>
          </a:solidFill>
          <a:ln w="17859">
            <a:solidFill>
              <a:srgbClr val="DFC97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89335" y="7774502"/>
            <a:ext cx="26499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Reconciliation</a:t>
            </a:r>
            <a:endParaRPr lang="en-US" sz="1950" dirty="0"/>
          </a:p>
        </p:txBody>
      </p:sp>
      <p:sp>
        <p:nvSpPr>
          <p:cNvPr id="51" name="Text 48"/>
          <p:cNvSpPr/>
          <p:nvPr/>
        </p:nvSpPr>
        <p:spPr>
          <a:xfrm>
            <a:off x="3626941" y="7756643"/>
            <a:ext cx="705205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totals · full event lifecycle · applies across every stage above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723863" y="8460321"/>
            <a:ext cx="4067194" cy="1687060"/>
          </a:xfrm>
          <a:prstGeom prst="roundRect">
            <a:avLst>
              <a:gd name="adj" fmla="val 5646"/>
            </a:avLst>
          </a:prstGeom>
          <a:solidFill>
            <a:srgbClr val="FFFFFF"/>
          </a:solidFill>
          <a:ln/>
        </p:spPr>
      </p:sp>
      <p:sp>
        <p:nvSpPr>
          <p:cNvPr id="53" name="Shape 50"/>
          <p:cNvSpPr/>
          <p:nvPr/>
        </p:nvSpPr>
        <p:spPr>
          <a:xfrm>
            <a:off x="723863" y="10141427"/>
            <a:ext cx="4067194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54" name="Shape 51"/>
          <p:cNvSpPr/>
          <p:nvPr/>
        </p:nvSpPr>
        <p:spPr>
          <a:xfrm>
            <a:off x="723863" y="8460321"/>
            <a:ext cx="4067194" cy="47625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55" name="Shape 52"/>
          <p:cNvSpPr/>
          <p:nvPr/>
        </p:nvSpPr>
        <p:spPr>
          <a:xfrm>
            <a:off x="723863" y="8460321"/>
            <a:ext cx="9525" cy="168706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56" name="Shape 53"/>
          <p:cNvSpPr/>
          <p:nvPr/>
        </p:nvSpPr>
        <p:spPr>
          <a:xfrm>
            <a:off x="4785103" y="8460321"/>
            <a:ext cx="9525" cy="168706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57" name="Text 54"/>
          <p:cNvSpPr/>
          <p:nvPr/>
        </p:nvSpPr>
        <p:spPr>
          <a:xfrm>
            <a:off x="939292" y="8698446"/>
            <a:ext cx="3999970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by design</a:t>
            </a:r>
            <a:endParaRPr lang="en-US" sz="1950" dirty="0"/>
          </a:p>
        </p:txBody>
      </p:sp>
      <p:sp>
        <p:nvSpPr>
          <p:cNvPr id="58" name="Text 55"/>
          <p:cNvSpPr/>
          <p:nvPr/>
        </p:nvSpPr>
        <p:spPr>
          <a:xfrm>
            <a:off x="939292" y="9059354"/>
            <a:ext cx="3745426" cy="92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scales and fails independently; new sources added without touching billing.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4981556" y="8460321"/>
            <a:ext cx="4067194" cy="1687060"/>
          </a:xfrm>
          <a:prstGeom prst="roundRect">
            <a:avLst>
              <a:gd name="adj" fmla="val 5646"/>
            </a:avLst>
          </a:prstGeom>
          <a:solidFill>
            <a:srgbClr val="FFFFFF"/>
          </a:solidFill>
          <a:ln/>
        </p:spPr>
      </p:sp>
      <p:sp>
        <p:nvSpPr>
          <p:cNvPr id="60" name="Shape 57"/>
          <p:cNvSpPr/>
          <p:nvPr/>
        </p:nvSpPr>
        <p:spPr>
          <a:xfrm>
            <a:off x="4981556" y="10141427"/>
            <a:ext cx="4067194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61" name="Shape 58"/>
          <p:cNvSpPr/>
          <p:nvPr/>
        </p:nvSpPr>
        <p:spPr>
          <a:xfrm>
            <a:off x="4981556" y="8460321"/>
            <a:ext cx="4067194" cy="47625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62" name="Shape 59"/>
          <p:cNvSpPr/>
          <p:nvPr/>
        </p:nvSpPr>
        <p:spPr>
          <a:xfrm>
            <a:off x="4981556" y="8460321"/>
            <a:ext cx="9525" cy="168706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63" name="Shape 60"/>
          <p:cNvSpPr/>
          <p:nvPr/>
        </p:nvSpPr>
        <p:spPr>
          <a:xfrm>
            <a:off x="9042797" y="8460321"/>
            <a:ext cx="9525" cy="168706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64" name="Text 61"/>
          <p:cNvSpPr/>
          <p:nvPr/>
        </p:nvSpPr>
        <p:spPr>
          <a:xfrm>
            <a:off x="5196985" y="8698446"/>
            <a:ext cx="3999970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 billing</a:t>
            </a:r>
            <a:endParaRPr lang="en-US" sz="1950" dirty="0"/>
          </a:p>
        </p:txBody>
      </p:sp>
      <p:sp>
        <p:nvSpPr>
          <p:cNvPr id="65" name="Text 62"/>
          <p:cNvSpPr/>
          <p:nvPr/>
        </p:nvSpPr>
        <p:spPr>
          <a:xfrm>
            <a:off x="5196985" y="9059354"/>
            <a:ext cx="3745426" cy="92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loss and no duplicate charges — every event validated and traceable.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9239250" y="8460321"/>
            <a:ext cx="4067194" cy="1687060"/>
          </a:xfrm>
          <a:prstGeom prst="roundRect">
            <a:avLst>
              <a:gd name="adj" fmla="val 5646"/>
            </a:avLst>
          </a:prstGeom>
          <a:solidFill>
            <a:srgbClr val="FFFFFF"/>
          </a:solidFill>
          <a:ln/>
        </p:spPr>
      </p:sp>
      <p:sp>
        <p:nvSpPr>
          <p:cNvPr id="67" name="Shape 64"/>
          <p:cNvSpPr/>
          <p:nvPr/>
        </p:nvSpPr>
        <p:spPr>
          <a:xfrm>
            <a:off x="9239250" y="10141427"/>
            <a:ext cx="4067194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68" name="Shape 65"/>
          <p:cNvSpPr/>
          <p:nvPr/>
        </p:nvSpPr>
        <p:spPr>
          <a:xfrm>
            <a:off x="9239250" y="8460321"/>
            <a:ext cx="4067194" cy="47625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69" name="Shape 66"/>
          <p:cNvSpPr/>
          <p:nvPr/>
        </p:nvSpPr>
        <p:spPr>
          <a:xfrm>
            <a:off x="9239250" y="8460321"/>
            <a:ext cx="9525" cy="168706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70" name="Shape 67"/>
          <p:cNvSpPr/>
          <p:nvPr/>
        </p:nvSpPr>
        <p:spPr>
          <a:xfrm>
            <a:off x="13300490" y="8460321"/>
            <a:ext cx="9525" cy="168706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71" name="Text 68"/>
          <p:cNvSpPr/>
          <p:nvPr/>
        </p:nvSpPr>
        <p:spPr>
          <a:xfrm>
            <a:off x="9454679" y="8698446"/>
            <a:ext cx="3999970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scale</a:t>
            </a:r>
            <a:endParaRPr lang="en-US" sz="1950" dirty="0"/>
          </a:p>
        </p:txBody>
      </p:sp>
      <p:sp>
        <p:nvSpPr>
          <p:cNvPr id="72" name="Text 69"/>
          <p:cNvSpPr/>
          <p:nvPr/>
        </p:nvSpPr>
        <p:spPr>
          <a:xfrm>
            <a:off x="9454679" y="9059354"/>
            <a:ext cx="3745426" cy="92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of events per month; horizontal scale with bounded memory.</a:t>
            </a:r>
            <a:endParaRPr lang="en-US" sz="1800" dirty="0"/>
          </a:p>
        </p:txBody>
      </p:sp>
      <p:sp>
        <p:nvSpPr>
          <p:cNvPr id="73" name="Shape 70"/>
          <p:cNvSpPr/>
          <p:nvPr/>
        </p:nvSpPr>
        <p:spPr>
          <a:xfrm>
            <a:off x="13496944" y="8460321"/>
            <a:ext cx="4067194" cy="1687060"/>
          </a:xfrm>
          <a:prstGeom prst="roundRect">
            <a:avLst>
              <a:gd name="adj" fmla="val 5646"/>
            </a:avLst>
          </a:prstGeom>
          <a:solidFill>
            <a:srgbClr val="FFFFFF"/>
          </a:solidFill>
          <a:ln/>
        </p:spPr>
      </p:sp>
      <p:sp>
        <p:nvSpPr>
          <p:cNvPr id="74" name="Shape 71"/>
          <p:cNvSpPr/>
          <p:nvPr/>
        </p:nvSpPr>
        <p:spPr>
          <a:xfrm>
            <a:off x="13496944" y="10141427"/>
            <a:ext cx="4067194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75" name="Shape 72"/>
          <p:cNvSpPr/>
          <p:nvPr/>
        </p:nvSpPr>
        <p:spPr>
          <a:xfrm>
            <a:off x="13496944" y="8460321"/>
            <a:ext cx="4067194" cy="4762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6" name="Shape 73"/>
          <p:cNvSpPr/>
          <p:nvPr/>
        </p:nvSpPr>
        <p:spPr>
          <a:xfrm>
            <a:off x="13496944" y="8460321"/>
            <a:ext cx="9525" cy="168706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77" name="Shape 74"/>
          <p:cNvSpPr/>
          <p:nvPr/>
        </p:nvSpPr>
        <p:spPr>
          <a:xfrm>
            <a:off x="17558184" y="8460321"/>
            <a:ext cx="9525" cy="168706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78" name="Text 75"/>
          <p:cNvSpPr/>
          <p:nvPr/>
        </p:nvSpPr>
        <p:spPr>
          <a:xfrm>
            <a:off x="13712372" y="8698446"/>
            <a:ext cx="3999970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for free</a:t>
            </a:r>
            <a:endParaRPr lang="en-US" sz="1950" dirty="0"/>
          </a:p>
        </p:txBody>
      </p:sp>
      <p:sp>
        <p:nvSpPr>
          <p:cNvPr id="79" name="Text 76"/>
          <p:cNvSpPr/>
          <p:nvPr/>
        </p:nvSpPr>
        <p:spPr>
          <a:xfrm>
            <a:off x="13712372" y="9059354"/>
            <a:ext cx="3745426" cy="632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generated by simply querying the S3 Parquet storage.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63" y="457181"/>
            <a:ext cx="18524302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Reusability, Extensibility &amp; Reporting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23863" y="1185788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23863" y="1357126"/>
            <a:ext cx="1530477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20"/>
              </a:lnSpc>
              <a:buNone/>
            </a:pPr>
            <a:r>
              <a:rPr lang="en-US" sz="20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many use cases. Any application that needs to bill a third party or aggregator plugs into the same pipeline — and inherits its controls and reporting.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723863" y="2318091"/>
            <a:ext cx="5461062" cy="3218036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9816" y="2324044"/>
            <a:ext cx="5449156" cy="706003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7" name="Text 5"/>
          <p:cNvSpPr/>
          <p:nvPr/>
        </p:nvSpPr>
        <p:spPr>
          <a:xfrm>
            <a:off x="958416" y="2495494"/>
            <a:ext cx="5155430" cy="401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Capabilities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77429" y="3258592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ingestion &amp; buffering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77429" y="3691961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de-duplication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77429" y="4125330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&amp; classification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77429" y="4558698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rule engine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977429" y="4992067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file generation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413469" y="2318091"/>
            <a:ext cx="5461062" cy="3218036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422" y="2324044"/>
            <a:ext cx="5449156" cy="706003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5" name="Text 13"/>
          <p:cNvSpPr/>
          <p:nvPr/>
        </p:nvSpPr>
        <p:spPr>
          <a:xfrm>
            <a:off x="6648022" y="2495494"/>
            <a:ext cx="5155430" cy="401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Configured, Not Coded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6667035" y="3258592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source system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667035" y="3691961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aggregator or recipient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667035" y="4125330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billing cluster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667035" y="4558698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rate changes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667035" y="4992067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schedule &amp; format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2103075" y="2318091"/>
            <a:ext cx="5461062" cy="3218036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109028" y="2324044"/>
            <a:ext cx="5449156" cy="706003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23" name="Text 21"/>
          <p:cNvSpPr/>
          <p:nvPr/>
        </p:nvSpPr>
        <p:spPr>
          <a:xfrm>
            <a:off x="12337628" y="2495494"/>
            <a:ext cx="5155430" cy="401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Points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2356641" y="3258592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provider adapters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356641" y="3691961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validation rules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356641" y="4125330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aggregation dimensions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2356641" y="4558698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pricing models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2356641" y="4992067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/ showback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723863" y="5764671"/>
            <a:ext cx="5461062" cy="235129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9816" y="5770625"/>
            <a:ext cx="5449156" cy="706003"/>
          </a:xfrm>
          <a:prstGeom prst="rect">
            <a:avLst/>
          </a:prstGeom>
          <a:solidFill>
            <a:srgbClr val="155E63"/>
          </a:solidFill>
          <a:ln/>
        </p:spPr>
      </p:sp>
      <p:sp>
        <p:nvSpPr>
          <p:cNvPr id="31" name="Text 29"/>
          <p:cNvSpPr/>
          <p:nvPr/>
        </p:nvSpPr>
        <p:spPr>
          <a:xfrm>
            <a:off x="958416" y="5942075"/>
            <a:ext cx="5155430" cy="401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Source-to-Metering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977429" y="6705172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published vs received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977429" y="7138541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&amp; duplicate detection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977429" y="7571910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Source-level control totals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6413469" y="5764671"/>
            <a:ext cx="5461062" cy="235129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9422" y="5770625"/>
            <a:ext cx="5449156" cy="706003"/>
          </a:xfrm>
          <a:prstGeom prst="rect">
            <a:avLst/>
          </a:prstGeom>
          <a:solidFill>
            <a:srgbClr val="4A2A6B"/>
          </a:solidFill>
          <a:ln/>
        </p:spPr>
      </p:sp>
      <p:sp>
        <p:nvSpPr>
          <p:cNvPr id="37" name="Text 35"/>
          <p:cNvSpPr/>
          <p:nvPr/>
        </p:nvSpPr>
        <p:spPr>
          <a:xfrm>
            <a:off x="6648022" y="5942075"/>
            <a:ext cx="5155430" cy="401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Metering-to-Billing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6667035" y="6705172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usage vs billing export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6667035" y="7138541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acknowledgement tracking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6667035" y="7571910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Replay-backed corrections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2103075" y="5764671"/>
            <a:ext cx="5461062" cy="235129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109028" y="5770625"/>
            <a:ext cx="5449156" cy="706003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3" name="Text 41"/>
          <p:cNvSpPr/>
          <p:nvPr/>
        </p:nvSpPr>
        <p:spPr>
          <a:xfrm>
            <a:off x="12337628" y="5942075"/>
            <a:ext cx="5155430" cy="401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Governance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12356641" y="6705172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by source, app and provider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12356641" y="7138541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aggregator and API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12356641" y="7571910"/>
            <a:ext cx="54493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event lifecycle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723863" y="8363583"/>
            <a:ext cx="16840274" cy="732234"/>
          </a:xfrm>
          <a:prstGeom prst="roundRect">
            <a:avLst>
              <a:gd name="adj" fmla="val 13008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7099" y="8583848"/>
            <a:ext cx="5566172" cy="329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use case starts at 80% complete.</a:t>
            </a:r>
            <a:endParaRPr lang="en-US" sz="2025" dirty="0"/>
          </a:p>
        </p:txBody>
      </p:sp>
      <p:sp>
        <p:nvSpPr>
          <p:cNvPr id="49" name="Text 47"/>
          <p:cNvSpPr/>
          <p:nvPr/>
        </p:nvSpPr>
        <p:spPr>
          <a:xfrm>
            <a:off x="8008255" y="8560036"/>
            <a:ext cx="8483910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time to market · lower cost per use case · consistent controls · lower risk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184404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Enterprise Value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281038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71445"/>
            <a:ext cx="157162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20"/>
              </a:lnSpc>
              <a:buNone/>
            </a:pPr>
            <a:r>
              <a:rPr lang="en-US" sz="20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path from today's billing pipeline to an enterprise monetization platform.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762000" y="2142381"/>
            <a:ext cx="5334000" cy="634566"/>
          </a:xfrm>
          <a:custGeom>
            <a:avLst/>
            <a:gdLst/>
            <a:ahLst/>
            <a:cxnLst/>
            <a:rect l="l" t="t" r="r" b="b"/>
            <a:pathLst>
              <a:path w="5334000" h="634566">
                <a:moveTo>
                  <a:pt x="114300" y="0"/>
                </a:moveTo>
                <a:lnTo>
                  <a:pt x="5334000" y="0"/>
                </a:lnTo>
                <a:lnTo>
                  <a:pt x="5334000" y="634566"/>
                </a:lnTo>
                <a:lnTo>
                  <a:pt x="114300" y="634566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910590" y="2313831"/>
            <a:ext cx="5036820" cy="32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 · Near term</a:t>
            </a:r>
            <a:endParaRPr lang="en-US" sz="20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0" y="2345345"/>
            <a:ext cx="381000" cy="228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77000" y="2142381"/>
            <a:ext cx="5334000" cy="634566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9" name="Text 6"/>
          <p:cNvSpPr/>
          <p:nvPr/>
        </p:nvSpPr>
        <p:spPr>
          <a:xfrm>
            <a:off x="6625590" y="2313831"/>
            <a:ext cx="5036820" cy="32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 · Mid term</a:t>
            </a:r>
            <a:endParaRPr lang="en-US" sz="202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11000" y="2345345"/>
            <a:ext cx="381000" cy="2285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2192000" y="2142381"/>
            <a:ext cx="5334000" cy="634566"/>
          </a:xfrm>
          <a:custGeom>
            <a:avLst/>
            <a:gdLst/>
            <a:ahLst/>
            <a:cxnLst/>
            <a:rect l="l" t="t" r="r" b="b"/>
            <a:pathLst>
              <a:path w="5334000" h="634566">
                <a:moveTo>
                  <a:pt x="0" y="0"/>
                </a:moveTo>
                <a:lnTo>
                  <a:pt x="5219700" y="0"/>
                </a:lnTo>
                <a:arcTo hR="114300" wR="114300" stAng="16200000" swAng="5400000"/>
                <a:lnTo>
                  <a:pt x="5334000" y="520266"/>
                </a:lnTo>
                <a:arcTo hR="114300" wR="114300" stAng="0" swAng="5400000"/>
                <a:lnTo>
                  <a:pt x="0" y="634566"/>
                </a:lnTo>
                <a:lnTo>
                  <a:pt x="0" y="0"/>
                </a:lnTo>
                <a:close/>
              </a:path>
            </a:pathLst>
          </a:custGeom>
          <a:solidFill>
            <a:srgbClr val="1F6135"/>
          </a:solidFill>
          <a:ln/>
        </p:spPr>
      </p:sp>
      <p:sp>
        <p:nvSpPr>
          <p:cNvPr id="12" name="Text 8"/>
          <p:cNvSpPr/>
          <p:nvPr/>
        </p:nvSpPr>
        <p:spPr>
          <a:xfrm>
            <a:off x="12340590" y="2313831"/>
            <a:ext cx="5036820" cy="32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 · Long term</a:t>
            </a:r>
            <a:endParaRPr lang="en-US" sz="2025" dirty="0"/>
          </a:p>
        </p:txBody>
      </p:sp>
      <p:sp>
        <p:nvSpPr>
          <p:cNvPr id="13" name="Shape 9"/>
          <p:cNvSpPr/>
          <p:nvPr/>
        </p:nvSpPr>
        <p:spPr>
          <a:xfrm>
            <a:off x="762000" y="3043628"/>
            <a:ext cx="5410181" cy="2944750"/>
          </a:xfrm>
          <a:custGeom>
            <a:avLst/>
            <a:gdLst/>
            <a:ahLst/>
            <a:cxnLst/>
            <a:rect l="l" t="t" r="r" b="b"/>
            <a:pathLst>
              <a:path w="5410181" h="2944750">
                <a:moveTo>
                  <a:pt x="0" y="0"/>
                </a:moveTo>
                <a:lnTo>
                  <a:pt x="5410181" y="0"/>
                </a:lnTo>
                <a:lnTo>
                  <a:pt x="5410181" y="2830450"/>
                </a:lnTo>
                <a:arcTo hR="114300" wR="114300" stAng="0" swAng="5400000"/>
                <a:lnTo>
                  <a:pt x="114300" y="2944750"/>
                </a:lnTo>
                <a:arcTo hR="114300" wR="114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62000" y="5982426"/>
            <a:ext cx="5410181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5" name="Shape 11"/>
          <p:cNvSpPr/>
          <p:nvPr/>
        </p:nvSpPr>
        <p:spPr>
          <a:xfrm>
            <a:off x="762000" y="3043628"/>
            <a:ext cx="5410181" cy="47625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6" name="Shape 12"/>
          <p:cNvSpPr/>
          <p:nvPr/>
        </p:nvSpPr>
        <p:spPr>
          <a:xfrm>
            <a:off x="762000" y="3043628"/>
            <a:ext cx="9525" cy="294475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7" name="Shape 13"/>
          <p:cNvSpPr/>
          <p:nvPr/>
        </p:nvSpPr>
        <p:spPr>
          <a:xfrm>
            <a:off x="6166228" y="3043628"/>
            <a:ext cx="9525" cy="294475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8" name="Text 14"/>
          <p:cNvSpPr/>
          <p:nvPr/>
        </p:nvSpPr>
        <p:spPr>
          <a:xfrm>
            <a:off x="1053703" y="3415047"/>
            <a:ext cx="5309453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additional enterprise source systems</a:t>
            </a:r>
            <a:endParaRPr lang="en-US" sz="1950" dirty="0"/>
          </a:p>
        </p:txBody>
      </p:sp>
      <p:sp>
        <p:nvSpPr>
          <p:cNvPr id="19" name="Text 15"/>
          <p:cNvSpPr/>
          <p:nvPr/>
        </p:nvSpPr>
        <p:spPr>
          <a:xfrm>
            <a:off x="1053703" y="3946364"/>
            <a:ext cx="4971578" cy="687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invoice adjustments </a:t>
            </a:r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credits, re-rates and corrections on demand</a:t>
            </a:r>
            <a:endParaRPr lang="en-US" sz="1950" dirty="0"/>
          </a:p>
        </p:txBody>
      </p:sp>
      <p:sp>
        <p:nvSpPr>
          <p:cNvPr id="20" name="Text 16"/>
          <p:cNvSpPr/>
          <p:nvPr/>
        </p:nvSpPr>
        <p:spPr>
          <a:xfrm>
            <a:off x="1053703" y="4805474"/>
            <a:ext cx="5309453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dashboards for operations</a:t>
            </a:r>
            <a:endParaRPr lang="en-US" sz="1950" dirty="0"/>
          </a:p>
        </p:txBody>
      </p:sp>
      <p:sp>
        <p:nvSpPr>
          <p:cNvPr id="21" name="Text 17"/>
          <p:cNvSpPr/>
          <p:nvPr/>
        </p:nvSpPr>
        <p:spPr>
          <a:xfrm>
            <a:off x="1053703" y="5336791"/>
            <a:ext cx="5309453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reconciliation reporting</a:t>
            </a:r>
            <a:endParaRPr lang="en-US" sz="1950" dirty="0"/>
          </a:p>
        </p:txBody>
      </p:sp>
      <p:sp>
        <p:nvSpPr>
          <p:cNvPr id="22" name="Shape 18"/>
          <p:cNvSpPr/>
          <p:nvPr/>
        </p:nvSpPr>
        <p:spPr>
          <a:xfrm>
            <a:off x="6438863" y="3043628"/>
            <a:ext cx="5410181" cy="2944750"/>
          </a:xfrm>
          <a:custGeom>
            <a:avLst/>
            <a:gdLst/>
            <a:ahLst/>
            <a:cxnLst/>
            <a:rect l="l" t="t" r="r" b="b"/>
            <a:pathLst>
              <a:path w="5410181" h="2944750">
                <a:moveTo>
                  <a:pt x="0" y="0"/>
                </a:moveTo>
                <a:lnTo>
                  <a:pt x="5410181" y="0"/>
                </a:lnTo>
                <a:lnTo>
                  <a:pt x="5410181" y="2830450"/>
                </a:lnTo>
                <a:arcTo hR="114300" wR="114300" stAng="0" swAng="5400000"/>
                <a:lnTo>
                  <a:pt x="114300" y="2944750"/>
                </a:lnTo>
                <a:arcTo hR="114300" wR="114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6438863" y="5982426"/>
            <a:ext cx="5410181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4" name="Shape 20"/>
          <p:cNvSpPr/>
          <p:nvPr/>
        </p:nvSpPr>
        <p:spPr>
          <a:xfrm>
            <a:off x="6438863" y="3043628"/>
            <a:ext cx="5410181" cy="47625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25" name="Shape 21"/>
          <p:cNvSpPr/>
          <p:nvPr/>
        </p:nvSpPr>
        <p:spPr>
          <a:xfrm>
            <a:off x="6438863" y="3043628"/>
            <a:ext cx="9525" cy="294475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6" name="Shape 22"/>
          <p:cNvSpPr/>
          <p:nvPr/>
        </p:nvSpPr>
        <p:spPr>
          <a:xfrm>
            <a:off x="11843091" y="3043628"/>
            <a:ext cx="9525" cy="294475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7" name="Text 23"/>
          <p:cNvSpPr/>
          <p:nvPr/>
        </p:nvSpPr>
        <p:spPr>
          <a:xfrm>
            <a:off x="6730566" y="3415047"/>
            <a:ext cx="5309453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billing providers via adapters</a:t>
            </a:r>
            <a:endParaRPr lang="en-US" sz="1950" dirty="0"/>
          </a:p>
        </p:txBody>
      </p:sp>
      <p:sp>
        <p:nvSpPr>
          <p:cNvPr id="28" name="Text 24"/>
          <p:cNvSpPr/>
          <p:nvPr/>
        </p:nvSpPr>
        <p:spPr>
          <a:xfrm>
            <a:off x="6730566" y="3946364"/>
            <a:ext cx="5309453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Usage-based and tiered pricing models</a:t>
            </a:r>
            <a:endParaRPr lang="en-US" sz="1950" dirty="0"/>
          </a:p>
        </p:txBody>
      </p:sp>
      <p:sp>
        <p:nvSpPr>
          <p:cNvPr id="29" name="Text 25"/>
          <p:cNvSpPr/>
          <p:nvPr/>
        </p:nvSpPr>
        <p:spPr>
          <a:xfrm>
            <a:off x="6730566" y="4477680"/>
            <a:ext cx="4971578" cy="681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/ showback for internal consumers</a:t>
            </a:r>
            <a:endParaRPr lang="en-US" sz="1950" dirty="0"/>
          </a:p>
        </p:txBody>
      </p:sp>
      <p:sp>
        <p:nvSpPr>
          <p:cNvPr id="30" name="Text 26"/>
          <p:cNvSpPr/>
          <p:nvPr/>
        </p:nvSpPr>
        <p:spPr>
          <a:xfrm>
            <a:off x="6730566" y="5330837"/>
            <a:ext cx="5309453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analytics on the Parquet layer</a:t>
            </a:r>
            <a:endParaRPr lang="en-US" sz="1950" dirty="0"/>
          </a:p>
        </p:txBody>
      </p:sp>
      <p:sp>
        <p:nvSpPr>
          <p:cNvPr id="31" name="Shape 27"/>
          <p:cNvSpPr/>
          <p:nvPr/>
        </p:nvSpPr>
        <p:spPr>
          <a:xfrm>
            <a:off x="12115726" y="3043628"/>
            <a:ext cx="5410181" cy="2944750"/>
          </a:xfrm>
          <a:custGeom>
            <a:avLst/>
            <a:gdLst/>
            <a:ahLst/>
            <a:cxnLst/>
            <a:rect l="l" t="t" r="r" b="b"/>
            <a:pathLst>
              <a:path w="5410181" h="2944750">
                <a:moveTo>
                  <a:pt x="0" y="0"/>
                </a:moveTo>
                <a:lnTo>
                  <a:pt x="5410181" y="0"/>
                </a:lnTo>
                <a:lnTo>
                  <a:pt x="5410181" y="2830450"/>
                </a:lnTo>
                <a:arcTo hR="114300" wR="114300" stAng="0" swAng="5400000"/>
                <a:lnTo>
                  <a:pt x="114300" y="2944750"/>
                </a:lnTo>
                <a:arcTo hR="114300" wR="114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28"/>
          <p:cNvSpPr/>
          <p:nvPr/>
        </p:nvSpPr>
        <p:spPr>
          <a:xfrm>
            <a:off x="12115726" y="5982426"/>
            <a:ext cx="5410181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3" name="Shape 29"/>
          <p:cNvSpPr/>
          <p:nvPr/>
        </p:nvSpPr>
        <p:spPr>
          <a:xfrm>
            <a:off x="12115726" y="3043628"/>
            <a:ext cx="5410181" cy="47625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34" name="Shape 30"/>
          <p:cNvSpPr/>
          <p:nvPr/>
        </p:nvSpPr>
        <p:spPr>
          <a:xfrm>
            <a:off x="12115726" y="3043628"/>
            <a:ext cx="9525" cy="294475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5" name="Shape 31"/>
          <p:cNvSpPr/>
          <p:nvPr/>
        </p:nvSpPr>
        <p:spPr>
          <a:xfrm>
            <a:off x="17519954" y="3043628"/>
            <a:ext cx="9525" cy="294475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6" name="Text 32"/>
          <p:cNvSpPr/>
          <p:nvPr/>
        </p:nvSpPr>
        <p:spPr>
          <a:xfrm>
            <a:off x="12407429" y="3415047"/>
            <a:ext cx="5309453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enterprise monetization platform</a:t>
            </a:r>
            <a:endParaRPr lang="en-US" sz="1950" dirty="0"/>
          </a:p>
        </p:txBody>
      </p:sp>
      <p:sp>
        <p:nvSpPr>
          <p:cNvPr id="37" name="Text 33"/>
          <p:cNvSpPr/>
          <p:nvPr/>
        </p:nvSpPr>
        <p:spPr>
          <a:xfrm>
            <a:off x="12407429" y="3946364"/>
            <a:ext cx="5309453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usage governance &amp; policy</a:t>
            </a:r>
            <a:endParaRPr lang="en-US" sz="1950" dirty="0"/>
          </a:p>
        </p:txBody>
      </p:sp>
      <p:sp>
        <p:nvSpPr>
          <p:cNvPr id="38" name="Text 34"/>
          <p:cNvSpPr/>
          <p:nvPr/>
        </p:nvSpPr>
        <p:spPr>
          <a:xfrm>
            <a:off x="12407429" y="4477680"/>
            <a:ext cx="5309453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and revenue insight</a:t>
            </a:r>
            <a:endParaRPr lang="en-US" sz="1950" dirty="0"/>
          </a:p>
        </p:txBody>
      </p:sp>
      <p:sp>
        <p:nvSpPr>
          <p:cNvPr id="39" name="Text 35"/>
          <p:cNvSpPr/>
          <p:nvPr/>
        </p:nvSpPr>
        <p:spPr>
          <a:xfrm>
            <a:off x="12407429" y="5008997"/>
            <a:ext cx="5309453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Partner-facing usage transparency</a:t>
            </a:r>
            <a:endParaRPr lang="en-US" sz="1950" dirty="0"/>
          </a:p>
        </p:txBody>
      </p:sp>
      <p:sp>
        <p:nvSpPr>
          <p:cNvPr id="40" name="Shape 36"/>
          <p:cNvSpPr/>
          <p:nvPr/>
        </p:nvSpPr>
        <p:spPr>
          <a:xfrm>
            <a:off x="762000" y="6350310"/>
            <a:ext cx="9666666" cy="2252700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/>
        </p:spPr>
      </p:sp>
      <p:sp>
        <p:nvSpPr>
          <p:cNvPr id="41" name="Shape 37"/>
          <p:cNvSpPr/>
          <p:nvPr/>
        </p:nvSpPr>
        <p:spPr>
          <a:xfrm>
            <a:off x="762000" y="8597057"/>
            <a:ext cx="966666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42" name="Shape 38"/>
          <p:cNvSpPr/>
          <p:nvPr/>
        </p:nvSpPr>
        <p:spPr>
          <a:xfrm>
            <a:off x="762000" y="6350310"/>
            <a:ext cx="966666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43" name="Shape 39"/>
          <p:cNvSpPr/>
          <p:nvPr/>
        </p:nvSpPr>
        <p:spPr>
          <a:xfrm>
            <a:off x="762000" y="6350310"/>
            <a:ext cx="47625" cy="22527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4" name="Shape 40"/>
          <p:cNvSpPr/>
          <p:nvPr/>
        </p:nvSpPr>
        <p:spPr>
          <a:xfrm>
            <a:off x="10422713" y="6350310"/>
            <a:ext cx="9525" cy="2252700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45" name="Text 41"/>
          <p:cNvSpPr/>
          <p:nvPr/>
        </p:nvSpPr>
        <p:spPr>
          <a:xfrm>
            <a:off x="1133419" y="6699126"/>
            <a:ext cx="9862049" cy="365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Invoice Adjustments</a:t>
            </a:r>
            <a:endParaRPr lang="en-US" sz="2250" dirty="0"/>
          </a:p>
        </p:txBody>
      </p:sp>
      <p:sp>
        <p:nvSpPr>
          <p:cNvPr id="46" name="Text 42"/>
          <p:cNvSpPr/>
          <p:nvPr/>
        </p:nvSpPr>
        <p:spPr>
          <a:xfrm>
            <a:off x="1133419" y="7140773"/>
            <a:ext cx="9234464" cy="1023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67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 billed line traces back to its source events, corrections can be applied and re-issued quickly — credits, re-rates and disputed items resolved without a manual reconstruction exercise.</a:t>
            </a:r>
            <a:endParaRPr lang="en-US" sz="1875" dirty="0"/>
          </a:p>
        </p:txBody>
      </p:sp>
      <p:sp>
        <p:nvSpPr>
          <p:cNvPr id="47" name="Shape 43"/>
          <p:cNvSpPr/>
          <p:nvPr/>
        </p:nvSpPr>
        <p:spPr>
          <a:xfrm>
            <a:off x="10695347" y="6350310"/>
            <a:ext cx="6830653" cy="2252700"/>
          </a:xfrm>
          <a:prstGeom prst="roundRect">
            <a:avLst>
              <a:gd name="adj" fmla="val 5074"/>
            </a:avLst>
          </a:prstGeom>
          <a:solidFill>
            <a:srgbClr val="0F2044"/>
          </a:solidFill>
          <a:ln/>
        </p:spPr>
      </p:sp>
      <p:sp>
        <p:nvSpPr>
          <p:cNvPr id="48" name="Text 44"/>
          <p:cNvSpPr/>
          <p:nvPr/>
        </p:nvSpPr>
        <p:spPr>
          <a:xfrm>
            <a:off x="10709988" y="6693173"/>
            <a:ext cx="680137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72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</a:t>
            </a:r>
            <a:endParaRPr lang="en-US" sz="1800" dirty="0"/>
          </a:p>
        </p:txBody>
      </p:sp>
      <p:sp>
        <p:nvSpPr>
          <p:cNvPr id="49" name="Text 45"/>
          <p:cNvSpPr/>
          <p:nvPr/>
        </p:nvSpPr>
        <p:spPr>
          <a:xfrm>
            <a:off x="10926395" y="7128867"/>
            <a:ext cx="6368556" cy="1169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3869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once. Bill anything. Govern centrally.</a:t>
            </a:r>
            <a:endParaRPr lang="en-US" sz="24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2026-08-31T12:03:34Z</dcterms:created>
  <dcterms:modified xsi:type="dcterms:W3CDTF">2026-08-31T12:03:34Z</dcterms:modified>
</cp:coreProperties>
</file>